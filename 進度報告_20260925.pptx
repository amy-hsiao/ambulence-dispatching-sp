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300" r:id="rId2"/>
    <p:sldId id="301" r:id="rId3"/>
    <p:sldId id="302" r:id="rId8"/>
    <p:sldId id="303" r:id="rId7"/>
    <p:sldId id="304" r:id="rId17"/>
    <p:sldId id="305" r:id="rId18"/>
    <p:sldId id="306" r:id="rId19"/>
    <p:sldId id="307" r:id="rId24"/>
    <p:sldId id="308" r:id="rId25"/>
    <p:sldId id="309" r:id="rId20"/>
    <p:sldId id="310" r:id="rId21"/>
    <p:sldId id="311" r:id="rId22"/>
    <p:sldId id="312" r:id="rId23"/>
    <p:sldId id="313" r:id="rId9"/>
  </p:sldIdLst>
  <p:sldSz cx="9144000" cy="6858000" type="screen4x3"/>
  <p:notesSz cx="6797675" cy="992822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9DC972D5-DE8A-424B-BBFE-1CB5152F62B8}">
          <p14:sldIdLst>
            <p14:sldId id="315"/>
            <p14:sldId id="677"/>
            <p14:sldId id="681"/>
            <p14:sldId id="693"/>
            <p14:sldId id="685"/>
            <p14:sldId id="678"/>
            <p14:sldId id="679"/>
            <p14:sldId id="6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Lab" initials="S" lastIdx="1" clrIdx="0"/>
  <p:cmAuthor id="2" name="Beata.WC Jang" initials="BJ" lastIdx="1" clrIdx="1">
    <p:extLst>
      <p:ext uri="{19B8F6BF-5375-455C-9EA6-DF929625EA0E}">
        <p15:presenceInfo xmlns:p15="http://schemas.microsoft.com/office/powerpoint/2012/main" userId="S::beata.wc.jang@nxp.com::cd3a6e67-dc38-4b5d-a49f-0c6af75df9c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8E710"/>
    <a:srgbClr val="FF0000"/>
    <a:srgbClr val="FFFFFF"/>
    <a:srgbClr val="0066FF"/>
    <a:srgbClr val="D0D9E9"/>
    <a:srgbClr val="A4D3A4"/>
    <a:srgbClr val="FFD88E"/>
    <a:srgbClr val="4E81BD"/>
    <a:srgbClr val="FFF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2267" autoAdjust="0"/>
  </p:normalViewPr>
  <p:slideViewPr>
    <p:cSldViewPr>
      <p:cViewPr varScale="1">
        <p:scale>
          <a:sx n="100" d="100"/>
          <a:sy n="100" d="100"/>
        </p:scale>
        <p:origin x="103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212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64"/>
    </p:cViewPr>
  </p:sorterViewPr>
  <p:notesViewPr>
    <p:cSldViewPr>
      <p:cViewPr varScale="1">
        <p:scale>
          <a:sx n="45" d="100"/>
          <a:sy n="45" d="100"/>
        </p:scale>
        <p:origin x="2836" y="5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AFE52-F5B3-4406-9942-0DD03C963E32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4A18A-27B1-451C-92BB-33BBDFE34D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96081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EBCFC-FD42-40EA-97B4-B66D1E61CC93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39838"/>
            <a:ext cx="4467225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99AA3F-B280-4B5D-8118-11122C1C86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6766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baseline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99AA3F-B280-4B5D-8118-11122C1C868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2986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99AA3F-B280-4B5D-8118-11122C1C8685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214683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BB2CFDC9-EDCF-C6B1-C055-2322BCF7BD2F}"/>
              </a:ext>
            </a:extLst>
          </p:cNvPr>
          <p:cNvSpPr/>
          <p:nvPr userDrawn="1"/>
        </p:nvSpPr>
        <p:spPr>
          <a:xfrm>
            <a:off x="0" y="3717032"/>
            <a:ext cx="9144000" cy="3140968"/>
          </a:xfrm>
          <a:prstGeom prst="rect">
            <a:avLst/>
          </a:prstGeom>
          <a:gradFill flip="none" rotWithShape="1">
            <a:gsLst>
              <a:gs pos="0">
                <a:srgbClr val="9933FF">
                  <a:tint val="66000"/>
                  <a:satMod val="160000"/>
                </a:srgbClr>
              </a:gs>
              <a:gs pos="50000">
                <a:srgbClr val="9933FF">
                  <a:tint val="44500"/>
                  <a:satMod val="160000"/>
                </a:srgbClr>
              </a:gs>
              <a:gs pos="100000">
                <a:srgbClr val="9933FF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圖片 13" descr="pic2-02.gif">
            <a:extLst>
              <a:ext uri="{FF2B5EF4-FFF2-40B4-BE49-F238E27FC236}">
                <a16:creationId xmlns:a16="http://schemas.microsoft.com/office/drawing/2014/main" id="{34505C12-5851-74DF-4416-D6FEAE2355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568" y="5242140"/>
            <a:ext cx="2448272" cy="16158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標題 1">
            <a:extLst>
              <a:ext uri="{FF2B5EF4-FFF2-40B4-BE49-F238E27FC236}">
                <a16:creationId xmlns:a16="http://schemas.microsoft.com/office/drawing/2014/main" id="{624199B1-F99B-4621-B087-152BCAE5B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370" y="44624"/>
            <a:ext cx="9122874" cy="767586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3600" b="1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60111C80-4475-4DCD-8152-7ED83C118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033" y="1071953"/>
            <a:ext cx="8582915" cy="240471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Font typeface="Wingdings" panose="05000000000000000000" pitchFamily="2" charset="2"/>
              <a:buChar char="l"/>
              <a:defRPr lang="zh-TW" altLang="en-US" sz="28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itchFamily="18" charset="0"/>
              </a:defRPr>
            </a:lvl1pPr>
            <a:lvl2pPr marL="742950" indent="-285750">
              <a:buFont typeface="Wingdings" panose="05000000000000000000" pitchFamily="2" charset="2"/>
              <a:buChar char="Ø"/>
              <a:defRPr sz="2400">
                <a:latin typeface="Times New Roman" panose="02020603050405020304" pitchFamily="18" charset="0"/>
                <a:cs typeface="Times New Roman" pitchFamily="18" charset="0"/>
              </a:defRPr>
            </a:lvl2pPr>
            <a:lvl3pPr>
              <a:buClr>
                <a:schemeClr val="accent6"/>
              </a:buClr>
              <a:defRPr lang="zh-TW" altLang="en-US" sz="20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itchFamily="18" charset="0"/>
              </a:defRPr>
            </a:lvl3pPr>
            <a:lvl4pPr>
              <a:defRPr sz="1800" baseline="0">
                <a:latin typeface="Times New Roman" panose="02020603050405020304" pitchFamily="18" charset="0"/>
                <a:cs typeface="Times New Roman" pitchFamily="18" charset="0"/>
              </a:defRPr>
            </a:lvl4pPr>
            <a:lvl5pPr>
              <a:defRPr sz="1800" baseline="0">
                <a:latin typeface="Times New Roman" panose="02020603050405020304" pitchFamily="18" charset="0"/>
                <a:cs typeface="Times New Roman" pitchFamily="18" charset="0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TW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按一下以編輯母片文字樣式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第二層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第三層</a:t>
            </a:r>
          </a:p>
          <a:p>
            <a:pPr marL="1600200" marR="0" lvl="3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第四層</a:t>
            </a:r>
          </a:p>
          <a:p>
            <a:pPr marL="2057400" marR="0" lvl="4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第五層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4CC7C85-A618-4522-B112-9535566540F7}"/>
              </a:ext>
            </a:extLst>
          </p:cNvPr>
          <p:cNvSpPr txBox="1"/>
          <p:nvPr userDrawn="1"/>
        </p:nvSpPr>
        <p:spPr>
          <a:xfrm>
            <a:off x="35496" y="646311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b="0" i="0" kern="1200" dirty="0">
                <a:solidFill>
                  <a:schemeClr val="bg1"/>
                </a:solidFill>
                <a:effectLst/>
                <a:latin typeface="標楷體" pitchFamily="65" charset="-120"/>
                <a:ea typeface="標楷體" pitchFamily="65" charset="-120"/>
                <a:cs typeface="+mn-cs"/>
              </a:rPr>
              <a:t xml:space="preserve">大數據分析與優化研究室 </a:t>
            </a:r>
            <a:r>
              <a:rPr lang="en-US" altLang="zh-TW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https://chang.ie.nthu.edu.tw/</a:t>
            </a:r>
            <a:endParaRPr lang="zh-TW" alt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153272C-0955-46EC-AD70-4C54D59A1D91}"/>
              </a:ext>
            </a:extLst>
          </p:cNvPr>
          <p:cNvSpPr txBox="1"/>
          <p:nvPr userDrawn="1"/>
        </p:nvSpPr>
        <p:spPr>
          <a:xfrm>
            <a:off x="8641710" y="6463115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53CE9A95-E9BD-4DA6-9C9C-2D43F0111FCD}" type="slidenum">
              <a:rPr lang="zh-TW" altLang="en-US" smtClean="0">
                <a:solidFill>
                  <a:schemeClr val="bg1"/>
                </a:solidFill>
              </a:rPr>
              <a:t>‹#›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5AEEF0DB-3434-4705-A336-8F8249F3BD2F}"/>
              </a:ext>
            </a:extLst>
          </p:cNvPr>
          <p:cNvGrpSpPr/>
          <p:nvPr userDrawn="1"/>
        </p:nvGrpSpPr>
        <p:grpSpPr>
          <a:xfrm>
            <a:off x="8096815" y="6239482"/>
            <a:ext cx="1019163" cy="581967"/>
            <a:chOff x="291217" y="830809"/>
            <a:chExt cx="1281707" cy="731886"/>
          </a:xfrm>
        </p:grpSpPr>
        <p:pic>
          <p:nvPicPr>
            <p:cNvPr id="22" name="Picture 2" descr="C:\Users\Yuphin\Desktop\清大LOGO(圓).png">
              <a:extLst>
                <a:ext uri="{FF2B5EF4-FFF2-40B4-BE49-F238E27FC236}">
                  <a16:creationId xmlns:a16="http://schemas.microsoft.com/office/drawing/2014/main" id="{74A0CC58-A990-49A7-8D75-ADC81255753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217" y="830809"/>
              <a:ext cx="739050" cy="73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" descr="C:\Users\Yuphin\Desktop\清大LOGO(鳥).png">
              <a:extLst>
                <a:ext uri="{FF2B5EF4-FFF2-40B4-BE49-F238E27FC236}">
                  <a16:creationId xmlns:a16="http://schemas.microsoft.com/office/drawing/2014/main" id="{3565C001-8842-4388-A927-BA599111F7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281" y="1046833"/>
              <a:ext cx="911643" cy="4540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94836078-F66D-7F2C-6C83-38D5451AA71F}"/>
              </a:ext>
            </a:extLst>
          </p:cNvPr>
          <p:cNvGrpSpPr/>
          <p:nvPr userDrawn="1"/>
        </p:nvGrpSpPr>
        <p:grpSpPr>
          <a:xfrm>
            <a:off x="45114" y="6349624"/>
            <a:ext cx="2160240" cy="445649"/>
            <a:chOff x="3623416" y="2333634"/>
            <a:chExt cx="1889266" cy="36000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2890F27C-DFAC-8C38-DFC7-A701047C04F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95" t="78283" r="17061" b="11429"/>
            <a:stretch/>
          </p:blipFill>
          <p:spPr>
            <a:xfrm>
              <a:off x="3890260" y="2359725"/>
              <a:ext cx="1539941" cy="216000"/>
            </a:xfrm>
            <a:prstGeom prst="rect">
              <a:avLst/>
            </a:prstGeom>
          </p:spPr>
        </p:pic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46F2A68B-A4BC-2584-1CE3-37BDA8A6E9A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6" r="24357" b="25282"/>
            <a:stretch/>
          </p:blipFill>
          <p:spPr>
            <a:xfrm>
              <a:off x="3623416" y="2333634"/>
              <a:ext cx="258298" cy="360000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9DF1AC27-8C74-EDE0-72E3-010F105F877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78" t="89404" r="4242" b="2644"/>
            <a:stretch/>
          </p:blipFill>
          <p:spPr>
            <a:xfrm>
              <a:off x="3907352" y="2567634"/>
              <a:ext cx="1605330" cy="126000"/>
            </a:xfrm>
            <a:prstGeom prst="rect">
              <a:avLst/>
            </a:prstGeom>
          </p:spPr>
        </p:pic>
      </p:grp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1912954-1A3E-02A8-D01D-B839F61F9407}"/>
              </a:ext>
            </a:extLst>
          </p:cNvPr>
          <p:cNvCxnSpPr/>
          <p:nvPr userDrawn="1"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8">
            <a:extLst>
              <a:ext uri="{FF2B5EF4-FFF2-40B4-BE49-F238E27FC236}">
                <a16:creationId xmlns:a16="http://schemas.microsoft.com/office/drawing/2014/main" id="{76BA9F7B-3B2F-D558-5BDD-B94CBEF0030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99225"/>
            <a:ext cx="9144000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200" tIns="3600" rIns="7200" bIns="3600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TW" sz="1200" i="1" dirty="0">
                <a:latin typeface="Times New Roman" panose="02020603050405020304" pitchFamily="18" charset="0"/>
              </a:rPr>
              <a:t xml:space="preserve">                                                                                                                </a:t>
            </a:r>
            <a:r>
              <a:rPr lang="en-US" altLang="zh-TW" sz="1400" i="1" dirty="0">
                <a:latin typeface="Times New Roman" panose="02020603050405020304" pitchFamily="18" charset="0"/>
              </a:rPr>
              <a:t>page</a:t>
            </a:r>
            <a:r>
              <a:rPr lang="en-US" altLang="zh-TW" sz="1400" dirty="0">
                <a:latin typeface="Times New Roman" panose="02020603050405020304" pitchFamily="18" charset="0"/>
              </a:rPr>
              <a:t xml:space="preserve"> </a:t>
            </a:r>
            <a:fld id="{8054145E-B74D-4722-AF67-E4AC5D9D05EE}" type="slidenum">
              <a:rPr lang="en-US" altLang="zh-TW" sz="1400" b="1" smtClean="0">
                <a:latin typeface="Times New Roman" panose="02020603050405020304" pitchFamily="18" charset="0"/>
              </a:rPr>
              <a:pPr eaLnBrk="1" hangingPunct="1">
                <a:lnSpc>
                  <a:spcPct val="90000"/>
                </a:lnSpc>
              </a:pPr>
              <a:t>‹#›</a:t>
            </a:fld>
            <a:endParaRPr lang="en-US" altLang="zh-TW" sz="1200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標題 1">
            <a:extLst>
              <a:ext uri="{FF2B5EF4-FFF2-40B4-BE49-F238E27FC236}">
                <a16:creationId xmlns:a16="http://schemas.microsoft.com/office/drawing/2014/main" id="{31DB366E-A182-45AC-B68B-036D6CBAA611}"/>
              </a:ext>
            </a:extLst>
          </p:cNvPr>
          <p:cNvSpPr txBox="1">
            <a:spLocks/>
          </p:cNvSpPr>
          <p:nvPr userDrawn="1"/>
        </p:nvSpPr>
        <p:spPr>
          <a:xfrm>
            <a:off x="467544" y="548680"/>
            <a:ext cx="8424936" cy="648072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4000" b="1" kern="12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F0FA3107-0BB8-4C37-A81B-725814C9C1F6}"/>
              </a:ext>
            </a:extLst>
          </p:cNvPr>
          <p:cNvSpPr txBox="1">
            <a:spLocks/>
          </p:cNvSpPr>
          <p:nvPr userDrawn="1"/>
        </p:nvSpPr>
        <p:spPr>
          <a:xfrm>
            <a:off x="446856" y="1340768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lang="zh-TW" altLang="en-US" sz="2400" baseline="0" dirty="0" smtClean="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buClr>
                <a:schemeClr val="accent6"/>
              </a:buClr>
              <a:defRPr lang="zh-TW" altLang="en-US" sz="2200" baseline="0" dirty="0" smtClean="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3pPr>
            <a:lvl4pPr>
              <a:defRPr baseline="0">
                <a:latin typeface="Times New Roman" pitchFamily="18" charset="0"/>
                <a:cs typeface="Times New Roman" pitchFamily="18" charset="0"/>
              </a:defRPr>
            </a:lvl4pPr>
            <a:lvl5pPr>
              <a:defRPr baseline="0">
                <a:latin typeface="Times New Roman" pitchFamily="18" charset="0"/>
                <a:cs typeface="Times New Roman" pitchFamily="18" charset="0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AD48ABB-EE73-4FFD-B586-A7DD307DADDC}"/>
              </a:ext>
            </a:extLst>
          </p:cNvPr>
          <p:cNvSpPr txBox="1"/>
          <p:nvPr userDrawn="1"/>
        </p:nvSpPr>
        <p:spPr>
          <a:xfrm>
            <a:off x="35496" y="646311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b="0" i="0" kern="1200" dirty="0">
                <a:solidFill>
                  <a:schemeClr val="bg1"/>
                </a:solidFill>
                <a:effectLst/>
                <a:latin typeface="標楷體" pitchFamily="65" charset="-120"/>
                <a:ea typeface="標楷體" pitchFamily="65" charset="-120"/>
                <a:cs typeface="+mn-cs"/>
              </a:rPr>
              <a:t xml:space="preserve">隨機最佳化研究室 </a:t>
            </a:r>
            <a:r>
              <a:rPr lang="en-US" altLang="zh-TW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https://sites.google.com/site/ssoptimizationlab/home</a:t>
            </a:r>
            <a:endParaRPr lang="zh-TW" alt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FCFB08C-6C81-4AA6-A5CE-772E9D3A298D}"/>
              </a:ext>
            </a:extLst>
          </p:cNvPr>
          <p:cNvSpPr txBox="1"/>
          <p:nvPr userDrawn="1"/>
        </p:nvSpPr>
        <p:spPr>
          <a:xfrm>
            <a:off x="35496" y="6463115"/>
            <a:ext cx="820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b="0" i="0" kern="1200" dirty="0">
                <a:solidFill>
                  <a:schemeClr val="bg1"/>
                </a:solidFill>
                <a:effectLst/>
                <a:latin typeface="標楷體" pitchFamily="65" charset="-120"/>
                <a:ea typeface="標楷體" pitchFamily="65" charset="-120"/>
                <a:cs typeface="+mn-cs"/>
              </a:rPr>
              <a:t xml:space="preserve">大數據分析與優化研究室 </a:t>
            </a:r>
            <a:r>
              <a:rPr lang="en-US" altLang="zh-TW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https://chang.ie.nthu.edu.tw/</a:t>
            </a:r>
            <a:endParaRPr lang="zh-TW" alt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3626BFA-70BD-469F-A6B9-8A48D028C0B4}"/>
              </a:ext>
            </a:extLst>
          </p:cNvPr>
          <p:cNvSpPr txBox="1"/>
          <p:nvPr userDrawn="1"/>
        </p:nvSpPr>
        <p:spPr>
          <a:xfrm>
            <a:off x="8641710" y="6463115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53CE9A95-E9BD-4DA6-9C9C-2D43F0111FCD}" type="slidenum">
              <a:rPr lang="zh-TW" altLang="en-US" smtClean="0">
                <a:solidFill>
                  <a:schemeClr val="bg1"/>
                </a:solidFill>
              </a:rPr>
              <a:t>‹#›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03E0AA9-7445-9E04-BFAD-7EF02320444F}"/>
              </a:ext>
            </a:extLst>
          </p:cNvPr>
          <p:cNvSpPr txBox="1"/>
          <p:nvPr userDrawn="1"/>
        </p:nvSpPr>
        <p:spPr>
          <a:xfrm>
            <a:off x="35496" y="646311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b="0" i="0" kern="1200" dirty="0">
                <a:solidFill>
                  <a:schemeClr val="bg1"/>
                </a:solidFill>
                <a:effectLst/>
                <a:latin typeface="標楷體" pitchFamily="65" charset="-120"/>
                <a:ea typeface="標楷體" pitchFamily="65" charset="-120"/>
                <a:cs typeface="+mn-cs"/>
              </a:rPr>
              <a:t xml:space="preserve">大數據分析與優化研究室 </a:t>
            </a:r>
            <a:r>
              <a:rPr lang="en-US" altLang="zh-TW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https://chang.ie.nthu.edu.tw/</a:t>
            </a:r>
            <a:endParaRPr lang="zh-TW" alt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06199F2-3235-2707-0E66-3D4BDB89D856}"/>
              </a:ext>
            </a:extLst>
          </p:cNvPr>
          <p:cNvSpPr txBox="1"/>
          <p:nvPr userDrawn="1"/>
        </p:nvSpPr>
        <p:spPr>
          <a:xfrm>
            <a:off x="8641710" y="6463115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53CE9A95-E9BD-4DA6-9C9C-2D43F0111FCD}" type="slidenum">
              <a:rPr lang="zh-TW" altLang="en-US" smtClean="0">
                <a:solidFill>
                  <a:schemeClr val="bg1"/>
                </a:solidFill>
              </a:rPr>
              <a:t>‹#›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3F462E05-D147-CF4E-8472-CC395F0C6229}"/>
              </a:ext>
            </a:extLst>
          </p:cNvPr>
          <p:cNvGrpSpPr/>
          <p:nvPr userDrawn="1"/>
        </p:nvGrpSpPr>
        <p:grpSpPr>
          <a:xfrm>
            <a:off x="8096815" y="6239482"/>
            <a:ext cx="1019163" cy="581967"/>
            <a:chOff x="291217" y="830809"/>
            <a:chExt cx="1281707" cy="731886"/>
          </a:xfrm>
        </p:grpSpPr>
        <p:pic>
          <p:nvPicPr>
            <p:cNvPr id="9" name="Picture 2" descr="C:\Users\Yuphin\Desktop\清大LOGO(圓).png">
              <a:extLst>
                <a:ext uri="{FF2B5EF4-FFF2-40B4-BE49-F238E27FC236}">
                  <a16:creationId xmlns:a16="http://schemas.microsoft.com/office/drawing/2014/main" id="{53BD5B6E-E18D-12DA-DAD0-8DA46DD46CA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217" y="830809"/>
              <a:ext cx="739050" cy="73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C:\Users\Yuphin\Desktop\清大LOGO(鳥).png">
              <a:extLst>
                <a:ext uri="{FF2B5EF4-FFF2-40B4-BE49-F238E27FC236}">
                  <a16:creationId xmlns:a16="http://schemas.microsoft.com/office/drawing/2014/main" id="{5D5C0F88-5ECD-FC83-2774-A5BE1D2F45A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281" y="1046833"/>
              <a:ext cx="911643" cy="4540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89943C0C-0D3A-69AB-8AF3-677E2D56615D}"/>
              </a:ext>
            </a:extLst>
          </p:cNvPr>
          <p:cNvGrpSpPr/>
          <p:nvPr userDrawn="1"/>
        </p:nvGrpSpPr>
        <p:grpSpPr>
          <a:xfrm>
            <a:off x="45114" y="6324290"/>
            <a:ext cx="2160240" cy="470984"/>
            <a:chOff x="3623416" y="2333634"/>
            <a:chExt cx="1889266" cy="360000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06C614DA-C667-D8C3-0465-27AFBDD0AC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95" t="78283" r="17061" b="11429"/>
            <a:stretch/>
          </p:blipFill>
          <p:spPr>
            <a:xfrm>
              <a:off x="3890260" y="2359725"/>
              <a:ext cx="1539941" cy="216000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DD8AB7BB-AC6F-96FA-8524-95D2F738EF5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6" r="24357" b="25282"/>
            <a:stretch/>
          </p:blipFill>
          <p:spPr>
            <a:xfrm>
              <a:off x="3623416" y="2333634"/>
              <a:ext cx="258298" cy="360000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6EFA21FE-6E38-C932-A3D0-9E40CBB8273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78" t="89404" r="4242" b="2644"/>
            <a:stretch/>
          </p:blipFill>
          <p:spPr>
            <a:xfrm>
              <a:off x="3907352" y="2567634"/>
              <a:ext cx="1605330" cy="12600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99" Type="http://schemas.openxmlformats.org/officeDocument/2006/relationships/image" Target="../media/gantt2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01DA22-CE7C-E116-5449-BE74547DFAD4}"/>
              </a:ext>
            </a:extLst>
          </p:cNvPr>
          <p:cNvSpPr txBox="1">
            <a:spLocks/>
          </p:cNvSpPr>
          <p:nvPr/>
        </p:nvSpPr>
        <p:spPr>
          <a:xfrm>
            <a:off x="782060" y="1247808"/>
            <a:ext cx="7772400" cy="2202144"/>
          </a:xfrm>
          <a:prstGeom prst="rect">
            <a:avLst/>
          </a:prstGeom>
        </p:spPr>
        <p:txBody>
          <a:bodyPr anchor="b"/>
          <a:lstStyle/>
          <a:p>
            <a:pPr algn="ctr">
              <a:spcBef>
                <a:spcPct val="20000"/>
              </a:spcBef>
              <a:buClr>
                <a:schemeClr val="accent1">
                  <a:lumMod val="75000"/>
                </a:schemeClr>
              </a:buClr>
              <a:defRPr/>
            </a:pP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5635845-BB73-E53A-134B-7E2ADC37A9F5}"/>
              </a:ext>
            </a:extLst>
          </p:cNvPr>
          <p:cNvSpPr txBox="1"/>
          <p:nvPr/>
        </p:nvSpPr>
        <p:spPr>
          <a:xfrm>
            <a:off x="457200" y="2204864"/>
            <a:ext cx="8229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災後緊急救護站選址與救護車調度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之風險趨避最佳化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3781425-9C5F-618C-27A9-3C66CD0A9569}"/>
              </a:ext>
            </a:extLst>
          </p:cNvPr>
          <p:cNvSpPr txBox="1"/>
          <p:nvPr/>
        </p:nvSpPr>
        <p:spPr>
          <a:xfrm>
            <a:off x="1828800" y="4034484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學生：蕭禮英　｜　2026.09.25</a:t>
            </a:r>
          </a:p>
        </p:txBody>
      </p:sp>
    </p:spTree>
    <p:extLst>
      <p:ext uri="{BB962C8B-B14F-4D97-AF65-F5344CB8AC3E}">
        <p14:creationId xmlns:p14="http://schemas.microsoft.com/office/powerpoint/2010/main" val="186406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ECA84D-B1BC-5918-54C2-F2D459AE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研究進度與簡報大綱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5A16109-9DEB-F6AE-FEF0-572CE37B6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033" y="1071953"/>
            <a:ext cx="8582915" cy="1060903"/>
          </a:xfrm>
        </p:spPr>
        <p:txBody>
          <a:bodyPr/>
          <a:lstStyle/>
          <a:p>
            <a:r>
              <a:rPr lang="zh-TW" altLang="en-US" sz="1800" b="1" dirty="0"/>
              <a:t>研究主題：</a:t>
            </a:r>
            <a:r>
              <a:rPr lang="zh-TW" altLang="en-US" sz="1800" dirty="0"/>
              <a:t>災後緊急救護站（CCP）選址與救護車調度之兩階段隨機規劃</a:t>
            </a:r>
            <a:endParaRPr lang="en-US" altLang="zh-TW" sz="1800" dirty="0"/>
          </a:p>
          <a:p>
            <a:r>
              <a:rPr lang="zh-TW" altLang="en-US" sz="1800" b="1" dirty="0"/>
              <a:t>本次重點：</a:t>
            </a:r>
            <a:r>
              <a:rPr lang="zh-TW" altLang="en-US" sz="1800" dirty="0"/>
              <a:t xml:space="preserve">說明目前的 </a:t>
            </a:r>
            <a:r>
              <a:rPr lang="zh-TW" altLang="en-US" sz="1800" dirty="0">
                <a:solidFill>
                  <a:srgbClr val="C00000"/>
                </a:solidFill>
              </a:rPr>
              <a:t>問題規模設定</a:t>
            </a:r>
            <a:r>
              <a:rPr lang="zh-TW" altLang="en-US" sz="1800" dirty="0"/>
              <a:t>、</a:t>
            </a:r>
            <a:r>
              <a:rPr lang="zh-TW" altLang="en-US" sz="1800" dirty="0">
                <a:solidFill>
                  <a:srgbClr val="C00000"/>
                </a:solidFill>
              </a:rPr>
              <a:t>B&amp;BC 加速方法</a:t>
            </a:r>
            <a:r>
              <a:rPr lang="zh-TW" altLang="en-US" sz="1800" dirty="0"/>
              <a:t>，以及實驗結果與後續研究時程。</a:t>
            </a:r>
          </a:p>
          <a:p>
            <a:pPr marL="514350" lvl="1" indent="0">
              <a:buClr>
                <a:schemeClr val="accent4">
                  <a:lumMod val="50000"/>
                </a:schemeClr>
              </a:buClr>
              <a:buNone/>
            </a:pPr>
            <a:endParaRPr lang="en-US" altLang="zh-TW" sz="22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05CC48B-7061-3365-1E2A-BD904A4ED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417040"/>
              </p:ext>
            </p:extLst>
          </p:nvPr>
        </p:nvGraphicFramePr>
        <p:xfrm>
          <a:off x="766647" y="2636912"/>
          <a:ext cx="7560840" cy="283174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88088758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83986011"/>
                    </a:ext>
                  </a:extLst>
                </a:gridCol>
                <a:gridCol w="4087368">
                  <a:extLst>
                    <a:ext uri="{9D8B030D-6E8A-4147-A177-3AD203B41FA5}">
                      <a16:colId xmlns:a16="http://schemas.microsoft.com/office/drawing/2014/main" val="2889938831"/>
                    </a:ext>
                  </a:extLst>
                </a:gridCol>
              </a:tblGrid>
              <a:tr h="39842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dirty="0"/>
                        <a:t>說明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092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i="1" dirty="0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a:t>SP + MCVaR + DRO</a:t>
                      </a:r>
                      <a:endParaRPr lang="zh-TW" altLang="en-US" sz="1600" i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兩階段隨機規劃，疊加均值–CVaR 風險衡量與分布強健層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208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i="1" dirty="0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a:t>Box / Ellipsoidal / Polyhedral</a:t>
                      </a:r>
                      <a:endParaRPr lang="zh-TW" altLang="en-US" sz="1600" i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三種模糊集，描述情境機率的不確定性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652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求解方法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Extensive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整體式，所有情境一次展開為單一 MILP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646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Branch-and-Benders-Cut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分解為主問題與情境子問題，搭配八段加速策略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272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dirty="0"/>
                        <a:t>本次進度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 = 5 已完成</a:t>
                      </a:r>
                      <a:endParaRPr lang="zh-TW" altLang="en-US" sz="16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情境數設定錯誤之版本，仍具參考價值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05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 = 50 進行中</a:t>
                      </a:r>
                      <a:endParaRPr lang="zh-TW" altLang="en-US" sz="1600" b="1" i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預計 9 月 24 日完成全部 72 組算例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850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109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7775D-8675-39E9-9EC2-9A7E413E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4C66F4-0C7D-425B-EAC2-DB61EB759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電動公車火災模擬流程</a:t>
            </a: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F1EFE710-1B8D-F89E-BCB6-7AD2187748B2}"/>
              </a:ext>
            </a:extLst>
          </p:cNvPr>
          <p:cNvGrpSpPr/>
          <p:nvPr/>
        </p:nvGrpSpPr>
        <p:grpSpPr>
          <a:xfrm>
            <a:off x="230982" y="2204864"/>
            <a:ext cx="8638729" cy="2958163"/>
            <a:chOff x="230982" y="2204864"/>
            <a:chExt cx="8638729" cy="295816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A10483F-37C3-5401-DB09-2989D96049F6}"/>
                </a:ext>
              </a:extLst>
            </p:cNvPr>
            <p:cNvSpPr/>
            <p:nvPr/>
          </p:nvSpPr>
          <p:spPr>
            <a:xfrm>
              <a:off x="230982" y="3399804"/>
              <a:ext cx="1224136" cy="594293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電動車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火災發生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2A02277-58BE-BFBD-8ECF-03C9075A9036}"/>
                </a:ext>
              </a:extLst>
            </p:cNvPr>
            <p:cNvSpPr/>
            <p:nvPr/>
          </p:nvSpPr>
          <p:spPr>
            <a:xfrm>
              <a:off x="1992830" y="3396666"/>
              <a:ext cx="1085838" cy="597431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火災通報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4864C1F-7722-BB30-B829-2908EEB3E5AD}"/>
                </a:ext>
              </a:extLst>
            </p:cNvPr>
            <p:cNvSpPr/>
            <p:nvPr/>
          </p:nvSpPr>
          <p:spPr>
            <a:xfrm>
              <a:off x="3707904" y="3387959"/>
              <a:ext cx="1499670" cy="606138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救護車出發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2AC44C2-87FA-1809-BF56-8651AE0D6342}"/>
                </a:ext>
              </a:extLst>
            </p:cNvPr>
            <p:cNvSpPr/>
            <p:nvPr/>
          </p:nvSpPr>
          <p:spPr>
            <a:xfrm>
              <a:off x="3707904" y="4556888"/>
              <a:ext cx="1499670" cy="606139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消防車出發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A17C1DB-3A18-78B5-F115-DD54733D3DCD}"/>
                </a:ext>
              </a:extLst>
            </p:cNvPr>
            <p:cNvSpPr/>
            <p:nvPr/>
          </p:nvSpPr>
          <p:spPr>
            <a:xfrm>
              <a:off x="3707904" y="2204864"/>
              <a:ext cx="1499670" cy="597430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代理人疏散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1D9FCB3-F45B-7D74-169F-B8899BA48992}"/>
                </a:ext>
              </a:extLst>
            </p:cNvPr>
            <p:cNvSpPr/>
            <p:nvPr/>
          </p:nvSpPr>
          <p:spPr>
            <a:xfrm>
              <a:off x="5672248" y="2794572"/>
              <a:ext cx="1360485" cy="606138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抵達集結點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A426ACA-5970-ED32-EBB0-3CE1685B790C}"/>
                </a:ext>
              </a:extLst>
            </p:cNvPr>
            <p:cNvSpPr/>
            <p:nvPr/>
          </p:nvSpPr>
          <p:spPr>
            <a:xfrm>
              <a:off x="5672248" y="4556887"/>
              <a:ext cx="1360485" cy="606140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抵達起火點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569BB58-60E4-E98F-651C-5FB9594EFB7D}"/>
                </a:ext>
              </a:extLst>
            </p:cNvPr>
            <p:cNvSpPr/>
            <p:nvPr/>
          </p:nvSpPr>
          <p:spPr>
            <a:xfrm>
              <a:off x="7509226" y="2802294"/>
              <a:ext cx="1360485" cy="606138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抵達醫院</a:t>
              </a:r>
            </a:p>
          </p:txBody>
        </p: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CF854A74-8C67-8E49-701B-198B4E9D8AF9}"/>
                </a:ext>
              </a:extLst>
            </p:cNvPr>
            <p:cNvCxnSpPr>
              <a:cxnSpLocks/>
              <a:stCxn id="11" idx="3"/>
              <a:endCxn id="14" idx="1"/>
            </p:cNvCxnSpPr>
            <p:nvPr/>
          </p:nvCxnSpPr>
          <p:spPr>
            <a:xfrm flipV="1">
              <a:off x="5207574" y="4859957"/>
              <a:ext cx="464674" cy="1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86E010FD-0E1C-C1C2-C7F8-41B76B813652}"/>
                </a:ext>
              </a:extLst>
            </p:cNvPr>
            <p:cNvCxnSpPr>
              <a:stCxn id="3" idx="3"/>
              <a:endCxn id="9" idx="1"/>
            </p:cNvCxnSpPr>
            <p:nvPr/>
          </p:nvCxnSpPr>
          <p:spPr>
            <a:xfrm flipV="1">
              <a:off x="1455118" y="3695382"/>
              <a:ext cx="537712" cy="1569"/>
            </a:xfrm>
            <a:prstGeom prst="straightConnector1">
              <a:avLst/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962FB729-3E35-5454-B8BB-17575B63BBC7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 flipV="1">
              <a:off x="3078668" y="3691028"/>
              <a:ext cx="629236" cy="4354"/>
            </a:xfrm>
            <a:prstGeom prst="straightConnector1">
              <a:avLst/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EA0A5F34-F1E5-221F-9327-28F24E90CFA1}"/>
                </a:ext>
              </a:extLst>
            </p:cNvPr>
            <p:cNvCxnSpPr>
              <a:cxnSpLocks/>
              <a:stCxn id="13" idx="3"/>
              <a:endCxn id="15" idx="1"/>
            </p:cNvCxnSpPr>
            <p:nvPr/>
          </p:nvCxnSpPr>
          <p:spPr>
            <a:xfrm>
              <a:off x="7032733" y="3097641"/>
              <a:ext cx="476493" cy="7722"/>
            </a:xfrm>
            <a:prstGeom prst="straightConnector1">
              <a:avLst/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接點: 肘形 42">
              <a:extLst>
                <a:ext uri="{FF2B5EF4-FFF2-40B4-BE49-F238E27FC236}">
                  <a16:creationId xmlns:a16="http://schemas.microsoft.com/office/drawing/2014/main" id="{DB04CE0F-9A61-D58F-AE98-2EACB8E9FBDB}"/>
                </a:ext>
              </a:extLst>
            </p:cNvPr>
            <p:cNvCxnSpPr>
              <a:cxnSpLocks/>
              <a:stCxn id="9" idx="3"/>
              <a:endCxn id="12" idx="1"/>
            </p:cNvCxnSpPr>
            <p:nvPr/>
          </p:nvCxnSpPr>
          <p:spPr>
            <a:xfrm flipV="1">
              <a:off x="3078668" y="2503579"/>
              <a:ext cx="629236" cy="119180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接點: 肘形 43">
              <a:extLst>
                <a:ext uri="{FF2B5EF4-FFF2-40B4-BE49-F238E27FC236}">
                  <a16:creationId xmlns:a16="http://schemas.microsoft.com/office/drawing/2014/main" id="{601B5671-7FB7-215F-1E4D-FE9B932B1C79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>
              <a:off x="5207574" y="2503579"/>
              <a:ext cx="464674" cy="594062"/>
            </a:xfrm>
            <a:prstGeom prst="bentConnector3">
              <a:avLst/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接點: 肘形 46">
              <a:extLst>
                <a:ext uri="{FF2B5EF4-FFF2-40B4-BE49-F238E27FC236}">
                  <a16:creationId xmlns:a16="http://schemas.microsoft.com/office/drawing/2014/main" id="{66621D89-6A64-AE1C-D917-E842CBAF26A3}"/>
                </a:ext>
              </a:extLst>
            </p:cNvPr>
            <p:cNvCxnSpPr>
              <a:cxnSpLocks/>
              <a:stCxn id="10" idx="3"/>
              <a:endCxn id="13" idx="1"/>
            </p:cNvCxnSpPr>
            <p:nvPr/>
          </p:nvCxnSpPr>
          <p:spPr>
            <a:xfrm flipV="1">
              <a:off x="5207574" y="3097641"/>
              <a:ext cx="464674" cy="593387"/>
            </a:xfrm>
            <a:prstGeom prst="bentConnector3">
              <a:avLst/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接點: 肘形 49">
              <a:extLst>
                <a:ext uri="{FF2B5EF4-FFF2-40B4-BE49-F238E27FC236}">
                  <a16:creationId xmlns:a16="http://schemas.microsoft.com/office/drawing/2014/main" id="{E798A56F-43F9-CF4A-3940-4A1D2B078F82}"/>
                </a:ext>
              </a:extLst>
            </p:cNvPr>
            <p:cNvCxnSpPr>
              <a:cxnSpLocks/>
              <a:stCxn id="9" idx="3"/>
              <a:endCxn id="11" idx="1"/>
            </p:cNvCxnSpPr>
            <p:nvPr/>
          </p:nvCxnSpPr>
          <p:spPr>
            <a:xfrm>
              <a:off x="3078668" y="3695382"/>
              <a:ext cx="629236" cy="1164576"/>
            </a:xfrm>
            <a:prstGeom prst="bentConnector3">
              <a:avLst/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C892112-673E-11EC-25AF-CD135DA943CE}"/>
                </a:ext>
              </a:extLst>
            </p:cNvPr>
            <p:cNvSpPr/>
            <p:nvPr/>
          </p:nvSpPr>
          <p:spPr>
            <a:xfrm>
              <a:off x="7509226" y="4556887"/>
              <a:ext cx="1360485" cy="606140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火勢成功控制</a:t>
              </a:r>
            </a:p>
          </p:txBody>
        </p: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13D1EB16-6816-BE1B-E591-F9EAF8D6396C}"/>
                </a:ext>
              </a:extLst>
            </p:cNvPr>
            <p:cNvCxnSpPr>
              <a:cxnSpLocks/>
              <a:stCxn id="14" idx="3"/>
              <a:endCxn id="7" idx="1"/>
            </p:cNvCxnSpPr>
            <p:nvPr/>
          </p:nvCxnSpPr>
          <p:spPr>
            <a:xfrm>
              <a:off x="7032733" y="4859957"/>
              <a:ext cx="476493" cy="0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5140293"/>
      </p:ext>
    </p:extLst>
  </p:cSld>
  <p:clrMapOvr>
    <a:masterClrMapping/>
  </p:clrMapOvr>
</p:sld>
</file>

<file path=ppt/slides/slide4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EFB27-EC27-98A6-58B6-EF1102F4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537B6E-2D37-1A0A-0702-A4E59CCF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電動公車火災模擬時間軸</a:t>
            </a: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92A40FCC-D4C4-0BE6-BAF6-F88B4D471165}"/>
              </a:ext>
            </a:extLst>
          </p:cNvPr>
          <p:cNvGrpSpPr/>
          <p:nvPr/>
        </p:nvGrpSpPr>
        <p:grpSpPr>
          <a:xfrm>
            <a:off x="395536" y="1943721"/>
            <a:ext cx="151126" cy="3718318"/>
            <a:chOff x="676837" y="1793963"/>
            <a:chExt cx="151126" cy="3718318"/>
          </a:xfrm>
        </p:grpSpPr>
        <p:cxnSp>
          <p:nvCxnSpPr>
            <p:cNvPr id="4" name="直線接點 3">
              <a:extLst>
                <a:ext uri="{FF2B5EF4-FFF2-40B4-BE49-F238E27FC236}">
                  <a16:creationId xmlns:a16="http://schemas.microsoft.com/office/drawing/2014/main" id="{FBB690EC-1161-1CF5-2FB4-1241694CC4AF}"/>
                </a:ext>
              </a:extLst>
            </p:cNvPr>
            <p:cNvCxnSpPr>
              <a:cxnSpLocks/>
              <a:stCxn id="8" idx="4"/>
              <a:endCxn id="18" idx="4"/>
            </p:cNvCxnSpPr>
            <p:nvPr/>
          </p:nvCxnSpPr>
          <p:spPr>
            <a:xfrm flipH="1">
              <a:off x="748845" y="1937978"/>
              <a:ext cx="379" cy="3574303"/>
            </a:xfrm>
            <a:prstGeom prst="line">
              <a:avLst/>
            </a:prstGeom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01D2EDF2-D26D-2BC0-8CDA-02930ED0E13A}"/>
                </a:ext>
              </a:extLst>
            </p:cNvPr>
            <p:cNvSpPr/>
            <p:nvPr/>
          </p:nvSpPr>
          <p:spPr>
            <a:xfrm>
              <a:off x="677216" y="1793963"/>
              <a:ext cx="144016" cy="144015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B43CAC9A-32C0-21A0-9119-ED55B40AE5AA}"/>
                </a:ext>
              </a:extLst>
            </p:cNvPr>
            <p:cNvSpPr/>
            <p:nvPr/>
          </p:nvSpPr>
          <p:spPr>
            <a:xfrm>
              <a:off x="677216" y="2370026"/>
              <a:ext cx="144016" cy="144015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A82125BC-14AE-CA1B-3341-379E3684E104}"/>
                </a:ext>
              </a:extLst>
            </p:cNvPr>
            <p:cNvSpPr/>
            <p:nvPr/>
          </p:nvSpPr>
          <p:spPr>
            <a:xfrm>
              <a:off x="677216" y="2970591"/>
              <a:ext cx="144016" cy="144015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2B755DB0-DAC0-7A0E-7575-98A30FE8C0E4}"/>
                </a:ext>
              </a:extLst>
            </p:cNvPr>
            <p:cNvSpPr/>
            <p:nvPr/>
          </p:nvSpPr>
          <p:spPr>
            <a:xfrm>
              <a:off x="683947" y="4171721"/>
              <a:ext cx="144016" cy="144015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574B3641-E581-FDFA-9A9C-DBF1F63A3282}"/>
                </a:ext>
              </a:extLst>
            </p:cNvPr>
            <p:cNvSpPr/>
            <p:nvPr/>
          </p:nvSpPr>
          <p:spPr>
            <a:xfrm>
              <a:off x="677216" y="4723836"/>
              <a:ext cx="144016" cy="144015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47F4CFB5-0AFE-ADEE-F87F-D18F6E8117CD}"/>
                </a:ext>
              </a:extLst>
            </p:cNvPr>
            <p:cNvSpPr/>
            <p:nvPr/>
          </p:nvSpPr>
          <p:spPr>
            <a:xfrm>
              <a:off x="677216" y="3615021"/>
              <a:ext cx="144016" cy="144015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F3A103AF-D7F8-A700-5241-D3D074803C85}"/>
                </a:ext>
              </a:extLst>
            </p:cNvPr>
            <p:cNvSpPr/>
            <p:nvPr/>
          </p:nvSpPr>
          <p:spPr>
            <a:xfrm>
              <a:off x="676837" y="5368266"/>
              <a:ext cx="144016" cy="144015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27E0BFE-E8FE-8F06-2671-37FF87DFC687}"/>
              </a:ext>
            </a:extLst>
          </p:cNvPr>
          <p:cNvSpPr txBox="1"/>
          <p:nvPr/>
        </p:nvSpPr>
        <p:spPr>
          <a:xfrm>
            <a:off x="827584" y="1346510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時間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5CC9AAB-89D1-44C3-0574-78FA2AB432F9}"/>
              </a:ext>
            </a:extLst>
          </p:cNvPr>
          <p:cNvSpPr txBox="1"/>
          <p:nvPr/>
        </p:nvSpPr>
        <p:spPr>
          <a:xfrm>
            <a:off x="2051720" y="1340768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事件</a:t>
            </a:r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45D6ABF9-4D2A-24F8-B06C-2B2717AA546B}"/>
              </a:ext>
            </a:extLst>
          </p:cNvPr>
          <p:cNvGrpSpPr/>
          <p:nvPr/>
        </p:nvGrpSpPr>
        <p:grpSpPr>
          <a:xfrm>
            <a:off x="3482780" y="2815447"/>
            <a:ext cx="5482760" cy="2042678"/>
            <a:chOff x="367980" y="2204864"/>
            <a:chExt cx="8501731" cy="2958163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B3233E98-0307-C214-AFE7-901E7DD5E35A}"/>
                </a:ext>
              </a:extLst>
            </p:cNvPr>
            <p:cNvSpPr/>
            <p:nvPr/>
          </p:nvSpPr>
          <p:spPr>
            <a:xfrm>
              <a:off x="367980" y="3399804"/>
              <a:ext cx="1285354" cy="594293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電動車</a:t>
              </a:r>
              <a:endPara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火災發生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5A8E7E0-2B4C-3349-B9FB-1385BA002E08}"/>
                </a:ext>
              </a:extLst>
            </p:cNvPr>
            <p:cNvSpPr/>
            <p:nvPr/>
          </p:nvSpPr>
          <p:spPr>
            <a:xfrm>
              <a:off x="1992829" y="3396666"/>
              <a:ext cx="1285354" cy="59743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火災通報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883538F6-9C13-B057-1CF0-84620CCB379B}"/>
                </a:ext>
              </a:extLst>
            </p:cNvPr>
            <p:cNvSpPr/>
            <p:nvPr/>
          </p:nvSpPr>
          <p:spPr>
            <a:xfrm>
              <a:off x="3707904" y="3387959"/>
              <a:ext cx="1499670" cy="606138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救護車出發</a:t>
              </a: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BE4E21E-3A8C-129A-AB6A-C0E12A948C0D}"/>
                </a:ext>
              </a:extLst>
            </p:cNvPr>
            <p:cNvSpPr/>
            <p:nvPr/>
          </p:nvSpPr>
          <p:spPr>
            <a:xfrm>
              <a:off x="3707904" y="4556888"/>
              <a:ext cx="1499670" cy="606139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消防車出發</a:t>
              </a: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2C2CD34B-4D03-C968-FC44-AF5AF61340D9}"/>
                </a:ext>
              </a:extLst>
            </p:cNvPr>
            <p:cNvSpPr/>
            <p:nvPr/>
          </p:nvSpPr>
          <p:spPr>
            <a:xfrm>
              <a:off x="3707904" y="2204864"/>
              <a:ext cx="1499670" cy="59743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代理人疏散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AADC78B-9842-1B94-DB5D-8EC2A743884F}"/>
                </a:ext>
              </a:extLst>
            </p:cNvPr>
            <p:cNvSpPr/>
            <p:nvPr/>
          </p:nvSpPr>
          <p:spPr>
            <a:xfrm>
              <a:off x="5672247" y="2794573"/>
              <a:ext cx="1499670" cy="606138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抵達集結點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993EDA7A-DE2B-12FE-7C88-6BA608CF9C37}"/>
                </a:ext>
              </a:extLst>
            </p:cNvPr>
            <p:cNvSpPr/>
            <p:nvPr/>
          </p:nvSpPr>
          <p:spPr>
            <a:xfrm>
              <a:off x="5672247" y="4556887"/>
              <a:ext cx="1499670" cy="606140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抵達起火點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3D50AA6A-E2F6-FBD3-6526-841D5296534C}"/>
                </a:ext>
              </a:extLst>
            </p:cNvPr>
            <p:cNvSpPr/>
            <p:nvPr/>
          </p:nvSpPr>
          <p:spPr>
            <a:xfrm>
              <a:off x="7509226" y="2802294"/>
              <a:ext cx="1360485" cy="606138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抵達醫院</a:t>
              </a:r>
            </a:p>
          </p:txBody>
        </p:sp>
        <p:cxnSp>
          <p:nvCxnSpPr>
            <p:cNvPr id="53" name="直線單箭頭接點 52">
              <a:extLst>
                <a:ext uri="{FF2B5EF4-FFF2-40B4-BE49-F238E27FC236}">
                  <a16:creationId xmlns:a16="http://schemas.microsoft.com/office/drawing/2014/main" id="{79163999-1E9E-7B50-9E63-BD63D582DA4B}"/>
                </a:ext>
              </a:extLst>
            </p:cNvPr>
            <p:cNvCxnSpPr>
              <a:cxnSpLocks/>
              <a:stCxn id="48" idx="3"/>
              <a:endCxn id="51" idx="1"/>
            </p:cNvCxnSpPr>
            <p:nvPr/>
          </p:nvCxnSpPr>
          <p:spPr>
            <a:xfrm>
              <a:off x="5207575" y="4859958"/>
              <a:ext cx="464673" cy="0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>
              <a:extLst>
                <a:ext uri="{FF2B5EF4-FFF2-40B4-BE49-F238E27FC236}">
                  <a16:creationId xmlns:a16="http://schemas.microsoft.com/office/drawing/2014/main" id="{D7CB12FE-AF5A-277D-741B-9005F54E221B}"/>
                </a:ext>
              </a:extLst>
            </p:cNvPr>
            <p:cNvCxnSpPr>
              <a:cxnSpLocks/>
              <a:stCxn id="45" idx="3"/>
              <a:endCxn id="46" idx="1"/>
            </p:cNvCxnSpPr>
            <p:nvPr/>
          </p:nvCxnSpPr>
          <p:spPr>
            <a:xfrm flipV="1">
              <a:off x="1653334" y="3695382"/>
              <a:ext cx="339495" cy="1570"/>
            </a:xfrm>
            <a:prstGeom prst="straightConnector1">
              <a:avLst/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>
              <a:extLst>
                <a:ext uri="{FF2B5EF4-FFF2-40B4-BE49-F238E27FC236}">
                  <a16:creationId xmlns:a16="http://schemas.microsoft.com/office/drawing/2014/main" id="{505ACDE7-6C2C-BF3D-21DA-E62DA7436C3E}"/>
                </a:ext>
              </a:extLst>
            </p:cNvPr>
            <p:cNvCxnSpPr>
              <a:cxnSpLocks/>
              <a:stCxn id="46" idx="3"/>
              <a:endCxn id="47" idx="1"/>
            </p:cNvCxnSpPr>
            <p:nvPr/>
          </p:nvCxnSpPr>
          <p:spPr>
            <a:xfrm flipV="1">
              <a:off x="3278183" y="3691029"/>
              <a:ext cx="429721" cy="4353"/>
            </a:xfrm>
            <a:prstGeom prst="straightConnector1">
              <a:avLst/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單箭頭接點 55">
              <a:extLst>
                <a:ext uri="{FF2B5EF4-FFF2-40B4-BE49-F238E27FC236}">
                  <a16:creationId xmlns:a16="http://schemas.microsoft.com/office/drawing/2014/main" id="{26E3E6D1-2B4E-FFAB-0493-172B68A32F9D}"/>
                </a:ext>
              </a:extLst>
            </p:cNvPr>
            <p:cNvCxnSpPr>
              <a:cxnSpLocks/>
              <a:stCxn id="50" idx="3"/>
              <a:endCxn id="52" idx="1"/>
            </p:cNvCxnSpPr>
            <p:nvPr/>
          </p:nvCxnSpPr>
          <p:spPr>
            <a:xfrm>
              <a:off x="7171917" y="3097642"/>
              <a:ext cx="337308" cy="7722"/>
            </a:xfrm>
            <a:prstGeom prst="straightConnector1">
              <a:avLst/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接點: 肘形 56">
              <a:extLst>
                <a:ext uri="{FF2B5EF4-FFF2-40B4-BE49-F238E27FC236}">
                  <a16:creationId xmlns:a16="http://schemas.microsoft.com/office/drawing/2014/main" id="{641BD9C1-593D-1EC9-9448-6F70304E40F4}"/>
                </a:ext>
              </a:extLst>
            </p:cNvPr>
            <p:cNvCxnSpPr>
              <a:cxnSpLocks/>
              <a:stCxn id="46" idx="3"/>
              <a:endCxn id="49" idx="1"/>
            </p:cNvCxnSpPr>
            <p:nvPr/>
          </p:nvCxnSpPr>
          <p:spPr>
            <a:xfrm flipV="1">
              <a:off x="3278183" y="2503580"/>
              <a:ext cx="429721" cy="119180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接點: 肘形 57">
              <a:extLst>
                <a:ext uri="{FF2B5EF4-FFF2-40B4-BE49-F238E27FC236}">
                  <a16:creationId xmlns:a16="http://schemas.microsoft.com/office/drawing/2014/main" id="{5F10D390-83FA-7366-703B-2DBC8E8ED4CB}"/>
                </a:ext>
              </a:extLst>
            </p:cNvPr>
            <p:cNvCxnSpPr>
              <a:cxnSpLocks/>
              <a:stCxn id="49" idx="3"/>
              <a:endCxn id="50" idx="1"/>
            </p:cNvCxnSpPr>
            <p:nvPr/>
          </p:nvCxnSpPr>
          <p:spPr>
            <a:xfrm>
              <a:off x="5207575" y="2503580"/>
              <a:ext cx="464673" cy="594062"/>
            </a:xfrm>
            <a:prstGeom prst="bentConnector3">
              <a:avLst/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接點: 肘形 58">
              <a:extLst>
                <a:ext uri="{FF2B5EF4-FFF2-40B4-BE49-F238E27FC236}">
                  <a16:creationId xmlns:a16="http://schemas.microsoft.com/office/drawing/2014/main" id="{430F265B-DA55-A9D9-8A4A-291EC7A3E851}"/>
                </a:ext>
              </a:extLst>
            </p:cNvPr>
            <p:cNvCxnSpPr>
              <a:cxnSpLocks/>
              <a:stCxn id="47" idx="3"/>
              <a:endCxn id="50" idx="1"/>
            </p:cNvCxnSpPr>
            <p:nvPr/>
          </p:nvCxnSpPr>
          <p:spPr>
            <a:xfrm flipV="1">
              <a:off x="5207575" y="3097642"/>
              <a:ext cx="464673" cy="593387"/>
            </a:xfrm>
            <a:prstGeom prst="bentConnector3">
              <a:avLst/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接點: 肘形 59">
              <a:extLst>
                <a:ext uri="{FF2B5EF4-FFF2-40B4-BE49-F238E27FC236}">
                  <a16:creationId xmlns:a16="http://schemas.microsoft.com/office/drawing/2014/main" id="{4FF5D1D1-6AC9-94CA-984F-B1F57D151D76}"/>
                </a:ext>
              </a:extLst>
            </p:cNvPr>
            <p:cNvCxnSpPr>
              <a:cxnSpLocks/>
              <a:stCxn id="46" idx="3"/>
              <a:endCxn id="48" idx="1"/>
            </p:cNvCxnSpPr>
            <p:nvPr/>
          </p:nvCxnSpPr>
          <p:spPr>
            <a:xfrm>
              <a:off x="3278183" y="3695382"/>
              <a:ext cx="429721" cy="1164576"/>
            </a:xfrm>
            <a:prstGeom prst="bentConnector3">
              <a:avLst/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E1F320B4-2317-2EAD-6A5D-A5F85B8B25EE}"/>
                </a:ext>
              </a:extLst>
            </p:cNvPr>
            <p:cNvSpPr/>
            <p:nvPr/>
          </p:nvSpPr>
          <p:spPr>
            <a:xfrm>
              <a:off x="7509226" y="4556887"/>
              <a:ext cx="1360485" cy="606140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火勢成功控制</a:t>
              </a:r>
            </a:p>
          </p:txBody>
        </p:sp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26A1C7F5-BB94-2F25-441D-0BA26C870C24}"/>
                </a:ext>
              </a:extLst>
            </p:cNvPr>
            <p:cNvCxnSpPr>
              <a:cxnSpLocks/>
              <a:stCxn id="51" idx="3"/>
              <a:endCxn id="61" idx="1"/>
            </p:cNvCxnSpPr>
            <p:nvPr/>
          </p:nvCxnSpPr>
          <p:spPr>
            <a:xfrm>
              <a:off x="7171917" y="4859958"/>
              <a:ext cx="337308" cy="0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C16D2873-925F-6FA5-7B54-CEFDF5AC1C3D}"/>
              </a:ext>
            </a:extLst>
          </p:cNvPr>
          <p:cNvSpPr/>
          <p:nvPr/>
        </p:nvSpPr>
        <p:spPr>
          <a:xfrm>
            <a:off x="179512" y="2363774"/>
            <a:ext cx="3168351" cy="451673"/>
          </a:xfrm>
          <a:prstGeom prst="rect">
            <a:avLst/>
          </a:prstGeom>
          <a:noFill/>
          <a:ln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82A7310-46A3-41AC-4485-4262264C6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483684"/>
              </p:ext>
            </p:extLst>
          </p:nvPr>
        </p:nvGraphicFramePr>
        <p:xfrm>
          <a:off x="597103" y="1844824"/>
          <a:ext cx="2750761" cy="4098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902">
                  <a:extLst>
                    <a:ext uri="{9D8B030D-6E8A-4147-A177-3AD203B41FA5}">
                      <a16:colId xmlns:a16="http://schemas.microsoft.com/office/drawing/2014/main" val="824046344"/>
                    </a:ext>
                  </a:extLst>
                </a:gridCol>
                <a:gridCol w="2175859">
                  <a:extLst>
                    <a:ext uri="{9D8B030D-6E8A-4147-A177-3AD203B41FA5}">
                      <a16:colId xmlns:a16="http://schemas.microsoft.com/office/drawing/2014/main" val="481437212"/>
                    </a:ext>
                  </a:extLst>
                </a:gridCol>
              </a:tblGrid>
              <a:tr h="5855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t=0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電動公車火災開始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744934"/>
                  </a:ext>
                </a:extLst>
              </a:tr>
              <a:tr h="585531">
                <a:tc>
                  <a:txBody>
                    <a:bodyPr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𝒓𝒆𝒑𝒐𝒓𝒕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火災通報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744451"/>
                  </a:ext>
                </a:extLst>
              </a:tr>
              <a:tr h="585531">
                <a:tc>
                  <a:txBody>
                    <a:bodyPr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𝒕𝒓𝒂𝒗𝒆𝒍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救護車、消防車出發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666863"/>
                  </a:ext>
                </a:extLst>
              </a:tr>
              <a:tr h="585531">
                <a:tc>
                  <a:txBody>
                    <a:bodyPr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𝒂𝒓𝒓𝒊𝒗𝒂𝒍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救護車、消防車到達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95883"/>
                  </a:ext>
                </a:extLst>
              </a:tr>
              <a:tr h="585531">
                <a:tc>
                  <a:txBody>
                    <a:bodyPr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𝒔𝒂𝒇𝒆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最後一個人員抵達集結點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986604"/>
                  </a:ext>
                </a:extLst>
              </a:tr>
              <a:tr h="585531">
                <a:tc>
                  <a:txBody>
                    <a:bodyPr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𝒉𝒐𝒔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最後一個人員抵達醫院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74499"/>
                  </a:ext>
                </a:extLst>
              </a:tr>
              <a:tr h="585531">
                <a:tc>
                  <a:txBody>
                    <a:bodyPr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altLang="zh-TW" sz="1400" b="1" i="1" dirty="0" smtClean="0">
                                    <a:latin typeface="Cambria Math" panose="02040503050406030204" pitchFamily="18" charset="0"/>
                                    <a:ea typeface="微軟正黑體" panose="020B0604030504040204" pitchFamily="34" charset="-120"/>
                                  </a:rPr>
                                  <m:t>𝒇𝒊𝒏𝒊𝒔𝒉</m:t>
                                </m:r>
                              </m:sub>
                            </m:sSub>
                          </m:oMath>
                        </m:oMathPara>
                      </a14:m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火勢成功控制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890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166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52F38F-4508-4428-D332-77643028F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模擬最佳化流程圖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E5E82F6-BDAB-F132-1644-972EF3F82B53}"/>
              </a:ext>
            </a:extLst>
          </p:cNvPr>
          <p:cNvSpPr txBox="1"/>
          <p:nvPr/>
        </p:nvSpPr>
        <p:spPr>
          <a:xfrm>
            <a:off x="949182" y="1036909"/>
            <a:ext cx="1447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階段名稱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ECBC6DA-7F06-7969-BD57-A533201DFD26}"/>
              </a:ext>
            </a:extLst>
          </p:cNvPr>
          <p:cNvSpPr txBox="1"/>
          <p:nvPr/>
        </p:nvSpPr>
        <p:spPr>
          <a:xfrm>
            <a:off x="3631680" y="1036908"/>
            <a:ext cx="899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關鍵事件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E180BA7-C250-19C5-A824-D4E46B4034B9}"/>
              </a:ext>
            </a:extLst>
          </p:cNvPr>
          <p:cNvSpPr txBox="1"/>
          <p:nvPr/>
        </p:nvSpPr>
        <p:spPr>
          <a:xfrm>
            <a:off x="7040964" y="1036908"/>
            <a:ext cx="867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相關技術</a:t>
            </a:r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5AEB0917-9D6A-5CEE-BD9F-9BB9733D4130}"/>
              </a:ext>
            </a:extLst>
          </p:cNvPr>
          <p:cNvGrpSpPr/>
          <p:nvPr/>
        </p:nvGrpSpPr>
        <p:grpSpPr>
          <a:xfrm>
            <a:off x="662765" y="1313907"/>
            <a:ext cx="8432878" cy="5408967"/>
            <a:chOff x="467544" y="1323752"/>
            <a:chExt cx="8432878" cy="5408967"/>
          </a:xfrm>
        </p:grpSpPr>
        <p:sp>
          <p:nvSpPr>
            <p:cNvPr id="19" name="矩形: 圓角 18">
              <a:extLst>
                <a:ext uri="{FF2B5EF4-FFF2-40B4-BE49-F238E27FC236}">
                  <a16:creationId xmlns:a16="http://schemas.microsoft.com/office/drawing/2014/main" id="{8F4453A2-3DBA-E628-412C-31D0AE43C35F}"/>
                </a:ext>
              </a:extLst>
            </p:cNvPr>
            <p:cNvSpPr/>
            <p:nvPr/>
          </p:nvSpPr>
          <p:spPr>
            <a:xfrm>
              <a:off x="551389" y="1324085"/>
              <a:ext cx="1296144" cy="656106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初始設置</a:t>
              </a:r>
            </a:p>
          </p:txBody>
        </p:sp>
        <p:sp>
          <p:nvSpPr>
            <p:cNvPr id="20" name="矩形: 圓角 19">
              <a:extLst>
                <a:ext uri="{FF2B5EF4-FFF2-40B4-BE49-F238E27FC236}">
                  <a16:creationId xmlns:a16="http://schemas.microsoft.com/office/drawing/2014/main" id="{9B3FCB4D-EEEE-EC7A-ADD5-870795736B82}"/>
                </a:ext>
              </a:extLst>
            </p:cNvPr>
            <p:cNvSpPr/>
            <p:nvPr/>
          </p:nvSpPr>
          <p:spPr>
            <a:xfrm>
              <a:off x="1987654" y="1323752"/>
              <a:ext cx="3937609" cy="656106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Font typeface="+mj-lt"/>
                <a:buAutoNum type="arabicPeriod"/>
              </a:pP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建立路網模型、人群分布、火源位置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設定候選救護車</a:t>
              </a:r>
              <a:r>
                <a:rPr lang="en-US" altLang="zh-TW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消防車站點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B6AA54A3-A788-E300-FD90-35342A599B01}"/>
                </a:ext>
              </a:extLst>
            </p:cNvPr>
            <p:cNvGrpSpPr/>
            <p:nvPr/>
          </p:nvGrpSpPr>
          <p:grpSpPr>
            <a:xfrm>
              <a:off x="6065384" y="1323752"/>
              <a:ext cx="2402990" cy="656106"/>
              <a:chOff x="6273466" y="1404409"/>
              <a:chExt cx="2402990" cy="656106"/>
            </a:xfrm>
          </p:grpSpPr>
          <p:sp>
            <p:nvSpPr>
              <p:cNvPr id="24" name="矩形: 圓角 23">
                <a:extLst>
                  <a:ext uri="{FF2B5EF4-FFF2-40B4-BE49-F238E27FC236}">
                    <a16:creationId xmlns:a16="http://schemas.microsoft.com/office/drawing/2014/main" id="{11552961-9901-5C23-1B58-A71B3333C455}"/>
                  </a:ext>
                </a:extLst>
              </p:cNvPr>
              <p:cNvSpPr/>
              <p:nvPr/>
            </p:nvSpPr>
            <p:spPr>
              <a:xfrm>
                <a:off x="6273466" y="1404409"/>
                <a:ext cx="2402990" cy="656106"/>
              </a:xfrm>
              <a:prstGeom prst="roundRect">
                <a:avLst/>
              </a:prstGeom>
              <a:noFill/>
              <a:ln w="19050"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A51FD47-B3BC-ED68-95E3-2C21CF05869E}"/>
                  </a:ext>
                </a:extLst>
              </p:cNvPr>
              <p:cNvSpPr txBox="1"/>
              <p:nvPr/>
            </p:nvSpPr>
            <p:spPr>
              <a:xfrm>
                <a:off x="6430844" y="1565720"/>
                <a:ext cx="208823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GIS</a:t>
                </a: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、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CAD</a:t>
                </a:r>
                <a:endPara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32" name="矩形: 圓角 31">
              <a:extLst>
                <a:ext uri="{FF2B5EF4-FFF2-40B4-BE49-F238E27FC236}">
                  <a16:creationId xmlns:a16="http://schemas.microsoft.com/office/drawing/2014/main" id="{F2730B86-5FD0-B89C-06A6-0BAF095E6B28}"/>
                </a:ext>
              </a:extLst>
            </p:cNvPr>
            <p:cNvSpPr/>
            <p:nvPr/>
          </p:nvSpPr>
          <p:spPr>
            <a:xfrm>
              <a:off x="551389" y="2141502"/>
              <a:ext cx="1296144" cy="656106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生成初始解</a:t>
              </a: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DD09E5C0-1A48-A975-1583-741AB2AC0C44}"/>
                </a:ext>
              </a:extLst>
            </p:cNvPr>
            <p:cNvSpPr/>
            <p:nvPr/>
          </p:nvSpPr>
          <p:spPr>
            <a:xfrm>
              <a:off x="1987654" y="2141169"/>
              <a:ext cx="3937609" cy="656106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使用最佳化算法（如遺傳算法、模擬退火等）生成一組</a:t>
              </a:r>
              <a:r>
                <a:rPr lang="zh-TW" altLang="en-US" sz="14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 xml:space="preserve"> </a:t>
              </a:r>
              <a:r>
                <a:rPr lang="en-US" altLang="zh-TW" sz="14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zh-TW" sz="1600" b="1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</m:ctrlPr>
                    </m:sSubPr>
                    <m:e>
                      <m:r>
                        <a:rPr lang="en-US" altLang="zh-TW" sz="1600" b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𝐗</m:t>
                      </m:r>
                    </m:e>
                    <m:sub>
                      <m:r>
                        <a:rPr lang="en-US" altLang="zh-TW" sz="1600" b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𝐚𝐦𝐛</m:t>
                      </m:r>
                    </m:sub>
                  </m:sSub>
                </m:oMath>
              </a14:m>
              <a:r>
                <a:rPr lang="zh-TW" altLang="en-US" sz="14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​</a:t>
              </a:r>
              <a:r>
                <a:rPr lang="en-US" altLang="zh-TW" sz="14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,</a:t>
              </a:r>
              <a:r>
                <a:rPr kumimoji="0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 xml:space="preserve"> </a:t>
              </a:r>
              <a14:m>
                <m:oMath xmlns:m="http://schemas.openxmlformats.org/officeDocument/2006/math">
                  <m:sSub>
                    <m:sSubPr>
                      <m:ctrlPr>
                        <a:rPr kumimoji="0" lang="en-US" altLang="zh-TW" sz="16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軟正黑體" panose="020B0604030504040204" pitchFamily="34" charset="-120"/>
                          <a:cs typeface="+mn-cs"/>
                        </a:rPr>
                      </m:ctrlPr>
                    </m:sSubPr>
                    <m:e>
                      <m:r>
                        <a:rPr kumimoji="0" lang="en-US" altLang="zh-TW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軟正黑體" panose="020B0604030504040204" pitchFamily="34" charset="-120"/>
                          <a:cs typeface="+mn-cs"/>
                        </a:rPr>
                        <m:t>𝐗</m:t>
                      </m:r>
                    </m:e>
                    <m:sub>
                      <m:r>
                        <a:rPr kumimoji="0" lang="en-US" altLang="zh-TW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軟正黑體" panose="020B0604030504040204" pitchFamily="34" charset="-120"/>
                          <a:cs typeface="+mn-cs"/>
                        </a:rPr>
                        <m:t>𝐟𝐢𝐫𝐞</m:t>
                      </m:r>
                    </m:sub>
                  </m:sSub>
                </m:oMath>
              </a14:m>
              <a:r>
                <a:rPr lang="zh-TW" altLang="en-US" sz="14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​</a:t>
              </a:r>
              <a:r>
                <a:rPr lang="en-US" altLang="zh-TW" sz="14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 xml:space="preserve">) </a:t>
              </a: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的組合配置方案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8C8AA133-0E04-6149-77A1-16C5E6F6BEA8}"/>
                </a:ext>
              </a:extLst>
            </p:cNvPr>
            <p:cNvGrpSpPr/>
            <p:nvPr/>
          </p:nvGrpSpPr>
          <p:grpSpPr>
            <a:xfrm>
              <a:off x="6065384" y="2141169"/>
              <a:ext cx="2402990" cy="656106"/>
              <a:chOff x="6273466" y="1404409"/>
              <a:chExt cx="2402990" cy="656106"/>
            </a:xfrm>
          </p:grpSpPr>
          <p:sp>
            <p:nvSpPr>
              <p:cNvPr id="35" name="矩形: 圓角 34">
                <a:extLst>
                  <a:ext uri="{FF2B5EF4-FFF2-40B4-BE49-F238E27FC236}">
                    <a16:creationId xmlns:a16="http://schemas.microsoft.com/office/drawing/2014/main" id="{059B27A9-1262-37BB-8846-F870480FFD9F}"/>
                  </a:ext>
                </a:extLst>
              </p:cNvPr>
              <p:cNvSpPr/>
              <p:nvPr/>
            </p:nvSpPr>
            <p:spPr>
              <a:xfrm>
                <a:off x="6273466" y="1404409"/>
                <a:ext cx="2402990" cy="656106"/>
              </a:xfrm>
              <a:prstGeom prst="roundRect">
                <a:avLst/>
              </a:prstGeom>
              <a:noFill/>
              <a:ln w="19050"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BEA1A9C5-953A-5F5C-972B-DA007B4BB0EC}"/>
                  </a:ext>
                </a:extLst>
              </p:cNvPr>
              <p:cNvSpPr txBox="1"/>
              <p:nvPr/>
            </p:nvSpPr>
            <p:spPr>
              <a:xfrm>
                <a:off x="6430844" y="1565720"/>
                <a:ext cx="208823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最佳化演算法</a:t>
                </a:r>
              </a:p>
            </p:txBody>
          </p:sp>
        </p:grpSp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119BDBD0-B764-EF20-621F-85D0E96D1CD1}"/>
                </a:ext>
              </a:extLst>
            </p:cNvPr>
            <p:cNvSpPr/>
            <p:nvPr/>
          </p:nvSpPr>
          <p:spPr>
            <a:xfrm>
              <a:off x="551389" y="2958919"/>
              <a:ext cx="1296144" cy="65610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開始模擬</a:t>
              </a:r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63D4D90B-73B9-1255-57AF-A3AE33736D44}"/>
                </a:ext>
              </a:extLst>
            </p:cNvPr>
            <p:cNvSpPr/>
            <p:nvPr/>
          </p:nvSpPr>
          <p:spPr>
            <a:xfrm>
              <a:off x="1987654" y="2958586"/>
              <a:ext cx="3937609" cy="65610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  <a:alpha val="5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AutoNum type="arabicPeriod"/>
              </a:pPr>
              <a:r>
                <a:rPr lang="en-US" altLang="zh-TW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t=0</a:t>
              </a: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，火災發生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342900" indent="-342900">
                <a:buAutoNum type="arabicPeriod"/>
              </a:pPr>
              <a:r>
                <a:rPr lang="en-US" altLang="zh-TW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</a:t>
              </a:r>
              <a:r>
                <a:rPr lang="en-US" altLang="zh-TW" dirty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>=</a:t>
              </a:r>
              <a:r>
                <a:rPr lang="zh-TW" altLang="en-US" dirty="0">
                  <a:solidFill>
                    <a:prstClr val="black"/>
                  </a:solidFill>
                  <a:latin typeface="Calibri"/>
                  <a:ea typeface="新細明體" panose="02020500000000000000" pitchFamily="18" charset="-120"/>
                </a:rPr>
                <a:t xml:space="preserve"> </a:t>
              </a:r>
              <a:r>
                <a:rPr lang="en-US" altLang="zh-TW" sz="1400" b="1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t_</a:t>
              </a:r>
              <a:r>
                <a:rPr kumimoji="0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report</a:t>
              </a:r>
              <a:r>
                <a: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，</a:t>
              </a:r>
              <a:r>
                <a:rPr kumimoji="0" lang="zh-TW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火災通報</a:t>
              </a: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，人員開始疏散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BCF26BF8-0788-909F-2D7D-6380BE0EB4B2}"/>
                </a:ext>
              </a:extLst>
            </p:cNvPr>
            <p:cNvGrpSpPr/>
            <p:nvPr/>
          </p:nvGrpSpPr>
          <p:grpSpPr>
            <a:xfrm>
              <a:off x="6065384" y="2958586"/>
              <a:ext cx="2402990" cy="656106"/>
              <a:chOff x="6273466" y="1404409"/>
              <a:chExt cx="2402990" cy="656106"/>
            </a:xfrm>
          </p:grpSpPr>
          <p:sp>
            <p:nvSpPr>
              <p:cNvPr id="40" name="矩形: 圓角 39">
                <a:extLst>
                  <a:ext uri="{FF2B5EF4-FFF2-40B4-BE49-F238E27FC236}">
                    <a16:creationId xmlns:a16="http://schemas.microsoft.com/office/drawing/2014/main" id="{44686139-3B1D-8851-3078-83BED91DEA89}"/>
                  </a:ext>
                </a:extLst>
              </p:cNvPr>
              <p:cNvSpPr/>
              <p:nvPr/>
            </p:nvSpPr>
            <p:spPr>
              <a:xfrm>
                <a:off x="6273466" y="1404409"/>
                <a:ext cx="2402990" cy="656106"/>
              </a:xfrm>
              <a:prstGeom prst="roundRect">
                <a:avLst/>
              </a:prstGeom>
              <a:noFill/>
              <a:ln w="19050"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07DF7A52-3A14-4B44-945D-A7551F64239C}"/>
                  </a:ext>
                </a:extLst>
              </p:cNvPr>
              <p:cNvSpPr txBox="1"/>
              <p:nvPr/>
            </p:nvSpPr>
            <p:spPr>
              <a:xfrm>
                <a:off x="6430844" y="1565720"/>
                <a:ext cx="20882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GIS</a:t>
                </a: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、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CAD</a:t>
                </a:r>
                <a:endPara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42" name="矩形: 圓角 41">
              <a:extLst>
                <a:ext uri="{FF2B5EF4-FFF2-40B4-BE49-F238E27FC236}">
                  <a16:creationId xmlns:a16="http://schemas.microsoft.com/office/drawing/2014/main" id="{F5F9B7F4-09CB-8B76-B988-12997797507F}"/>
                </a:ext>
              </a:extLst>
            </p:cNvPr>
            <p:cNvSpPr/>
            <p:nvPr/>
          </p:nvSpPr>
          <p:spPr>
            <a:xfrm>
              <a:off x="551389" y="3776336"/>
              <a:ext cx="1296144" cy="65610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火勢模擬</a:t>
              </a:r>
            </a:p>
          </p:txBody>
        </p:sp>
        <p:sp>
          <p:nvSpPr>
            <p:cNvPr id="43" name="矩形: 圓角 42">
              <a:extLst>
                <a:ext uri="{FF2B5EF4-FFF2-40B4-BE49-F238E27FC236}">
                  <a16:creationId xmlns:a16="http://schemas.microsoft.com/office/drawing/2014/main" id="{0893E9EC-6A03-49E4-25CA-876CC123C5EB}"/>
                </a:ext>
              </a:extLst>
            </p:cNvPr>
            <p:cNvSpPr/>
            <p:nvPr/>
          </p:nvSpPr>
          <p:spPr>
            <a:xfrm>
              <a:off x="1987654" y="3776003"/>
              <a:ext cx="3937609" cy="65610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 xml:space="preserve">1. </a:t>
              </a: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 xml:space="preserve">   火勢增長、煙霧與有毒氣體擴散 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en-US" altLang="zh-TW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 xml:space="preserve">2. </a:t>
              </a: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 xml:space="preserve">   動態更新危害區域（低能見度、毒氣濃度）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35781F28-F1AF-7F01-AEF8-C863E8E3CCA5}"/>
                </a:ext>
              </a:extLst>
            </p:cNvPr>
            <p:cNvGrpSpPr/>
            <p:nvPr/>
          </p:nvGrpSpPr>
          <p:grpSpPr>
            <a:xfrm>
              <a:off x="6065384" y="3776003"/>
              <a:ext cx="2560366" cy="656106"/>
              <a:chOff x="6273466" y="1404409"/>
              <a:chExt cx="2560366" cy="656106"/>
            </a:xfrm>
          </p:grpSpPr>
          <p:sp>
            <p:nvSpPr>
              <p:cNvPr id="45" name="矩形: 圓角 44">
                <a:extLst>
                  <a:ext uri="{FF2B5EF4-FFF2-40B4-BE49-F238E27FC236}">
                    <a16:creationId xmlns:a16="http://schemas.microsoft.com/office/drawing/2014/main" id="{1290077D-6ECE-325E-EF54-88A4F2E99513}"/>
                  </a:ext>
                </a:extLst>
              </p:cNvPr>
              <p:cNvSpPr/>
              <p:nvPr/>
            </p:nvSpPr>
            <p:spPr>
              <a:xfrm>
                <a:off x="6273466" y="1404409"/>
                <a:ext cx="2402990" cy="656106"/>
              </a:xfrm>
              <a:prstGeom prst="roundRect">
                <a:avLst/>
              </a:prstGeom>
              <a:noFill/>
              <a:ln w="19050"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DBE64DE4-3545-BC28-1A27-C6B7498FA0C1}"/>
                  </a:ext>
                </a:extLst>
              </p:cNvPr>
              <p:cNvSpPr txBox="1"/>
              <p:nvPr/>
            </p:nvSpPr>
            <p:spPr>
              <a:xfrm>
                <a:off x="6430843" y="1565720"/>
                <a:ext cx="24029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CFD</a:t>
                </a: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 xml:space="preserve">模型 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</a:t>
                </a: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如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FDS/</a:t>
                </a:r>
                <a:r>
                  <a:rPr lang="en-US" altLang="zh-TW" sz="1400" dirty="0" err="1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PyroSim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)</a:t>
                </a:r>
                <a:endPara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47" name="矩形: 圓角 46">
              <a:extLst>
                <a:ext uri="{FF2B5EF4-FFF2-40B4-BE49-F238E27FC236}">
                  <a16:creationId xmlns:a16="http://schemas.microsoft.com/office/drawing/2014/main" id="{9B7BBBDC-7661-0CAE-C588-B91D5CA4720F}"/>
                </a:ext>
              </a:extLst>
            </p:cNvPr>
            <p:cNvSpPr/>
            <p:nvPr/>
          </p:nvSpPr>
          <p:spPr>
            <a:xfrm>
              <a:off x="551389" y="4593753"/>
              <a:ext cx="1296144" cy="65610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人員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疏散模擬</a:t>
              </a:r>
            </a:p>
          </p:txBody>
        </p:sp>
        <p:sp>
          <p:nvSpPr>
            <p:cNvPr id="48" name="矩形: 圓角 47">
              <a:extLst>
                <a:ext uri="{FF2B5EF4-FFF2-40B4-BE49-F238E27FC236}">
                  <a16:creationId xmlns:a16="http://schemas.microsoft.com/office/drawing/2014/main" id="{DFD8ADA2-22DB-1E87-DF85-4B6C6C489BC3}"/>
                </a:ext>
              </a:extLst>
            </p:cNvPr>
            <p:cNvSpPr/>
            <p:nvPr/>
          </p:nvSpPr>
          <p:spPr>
            <a:xfrm>
              <a:off x="1987654" y="4593420"/>
              <a:ext cx="3937609" cy="65610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Font typeface="+mj-lt"/>
                <a:buAutoNum type="arabicPeriod"/>
              </a:pP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人員避開熱區，尋找最短</a:t>
              </a:r>
              <a:r>
                <a:rPr lang="en-US" altLang="zh-TW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 xml:space="preserve">最安全路徑。 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 xml:space="preserve">記錄每個人員到達安全區的 </a:t>
              </a:r>
              <a:r>
                <a:rPr lang="en-US" altLang="zh-TW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 xml:space="preserve">Teva​ </a:t>
              </a: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 xml:space="preserve">和路徑上的 </a:t>
              </a:r>
              <a:r>
                <a:rPr lang="en-US" altLang="zh-TW" sz="1400" b="1" dirty="0" err="1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Ttox</a:t>
              </a:r>
              <a:r>
                <a:rPr lang="en-US" altLang="zh-TW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 xml:space="preserve">​ </a:t>
              </a: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。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1096978E-3A13-C88D-34B9-888147763351}"/>
                </a:ext>
              </a:extLst>
            </p:cNvPr>
            <p:cNvGrpSpPr/>
            <p:nvPr/>
          </p:nvGrpSpPr>
          <p:grpSpPr>
            <a:xfrm>
              <a:off x="6065384" y="4593420"/>
              <a:ext cx="2402990" cy="656106"/>
              <a:chOff x="6273466" y="1404409"/>
              <a:chExt cx="2402990" cy="656106"/>
            </a:xfrm>
          </p:grpSpPr>
          <p:sp>
            <p:nvSpPr>
              <p:cNvPr id="50" name="矩形: 圓角 49">
                <a:extLst>
                  <a:ext uri="{FF2B5EF4-FFF2-40B4-BE49-F238E27FC236}">
                    <a16:creationId xmlns:a16="http://schemas.microsoft.com/office/drawing/2014/main" id="{4C3EA92B-6E59-B323-1573-971DEF1302C2}"/>
                  </a:ext>
                </a:extLst>
              </p:cNvPr>
              <p:cNvSpPr/>
              <p:nvPr/>
            </p:nvSpPr>
            <p:spPr>
              <a:xfrm>
                <a:off x="6273466" y="1404409"/>
                <a:ext cx="2402990" cy="656106"/>
              </a:xfrm>
              <a:prstGeom prst="roundRect">
                <a:avLst/>
              </a:prstGeom>
              <a:noFill/>
              <a:ln w="19050"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8B1D01B5-FCC0-01E1-F619-52150CA9B5DA}"/>
                  </a:ext>
                </a:extLst>
              </p:cNvPr>
              <p:cNvSpPr txBox="1"/>
              <p:nvPr/>
            </p:nvSpPr>
            <p:spPr>
              <a:xfrm>
                <a:off x="6430844" y="1499392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Agent-Based Model,</a:t>
                </a:r>
              </a:p>
              <a:p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Pathfinder</a:t>
                </a:r>
                <a:endPara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52" name="矩形: 圓角 51">
              <a:extLst>
                <a:ext uri="{FF2B5EF4-FFF2-40B4-BE49-F238E27FC236}">
                  <a16:creationId xmlns:a16="http://schemas.microsoft.com/office/drawing/2014/main" id="{7658349E-D3DE-D5D2-ED5B-1F8DCEB2AD93}"/>
                </a:ext>
              </a:extLst>
            </p:cNvPr>
            <p:cNvSpPr/>
            <p:nvPr/>
          </p:nvSpPr>
          <p:spPr>
            <a:xfrm>
              <a:off x="551389" y="5411169"/>
              <a:ext cx="1296144" cy="1177533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應急響應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模擬</a:t>
              </a:r>
            </a:p>
          </p:txBody>
        </p:sp>
        <p:sp>
          <p:nvSpPr>
            <p:cNvPr id="53" name="矩形: 圓角 52">
              <a:extLst>
                <a:ext uri="{FF2B5EF4-FFF2-40B4-BE49-F238E27FC236}">
                  <a16:creationId xmlns:a16="http://schemas.microsoft.com/office/drawing/2014/main" id="{A74AFDD7-7DF9-40C2-23CA-BC458585C099}"/>
                </a:ext>
              </a:extLst>
            </p:cNvPr>
            <p:cNvSpPr/>
            <p:nvPr/>
          </p:nvSpPr>
          <p:spPr>
            <a:xfrm>
              <a:off x="1987654" y="5410837"/>
              <a:ext cx="3937609" cy="117786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Font typeface="+mj-lt"/>
                <a:buAutoNum type="arabicPeriod"/>
              </a:pP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 xml:space="preserve">在 </a:t>
              </a:r>
              <a:r>
                <a:rPr lang="en-US" altLang="zh-TW" sz="1400" b="1" dirty="0" err="1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t≥t</a:t>
              </a:r>
              <a:r>
                <a:rPr lang="en-US" altLang="zh-TW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 xml:space="preserve"> arrival​  </a:t>
              </a: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 xml:space="preserve">且 </a:t>
              </a:r>
              <a:r>
                <a:rPr lang="en-US" altLang="zh-TW" sz="1400" b="1" dirty="0" err="1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t≤t</a:t>
              </a:r>
              <a:r>
                <a:rPr lang="en-US" altLang="zh-TW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 xml:space="preserve"> finish​  </a:t>
              </a: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期間，消防車所屬的路口被標記為受阻。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計算救護車抵達集結點、醫院的路徑，必須避開消防車阻斷的路口與熱區、暖區。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紀錄每個人員的送醫時間</a:t>
              </a:r>
              <a:r>
                <a:rPr lang="en-US" altLang="zh-TW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</a:t>
              </a:r>
              <a:r>
                <a:rPr lang="en-US" altLang="zh-TW" sz="105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hos</a:t>
              </a:r>
            </a:p>
          </p:txBody>
        </p:sp>
        <p:grpSp>
          <p:nvGrpSpPr>
            <p:cNvPr id="54" name="群組 53">
              <a:extLst>
                <a:ext uri="{FF2B5EF4-FFF2-40B4-BE49-F238E27FC236}">
                  <a16:creationId xmlns:a16="http://schemas.microsoft.com/office/drawing/2014/main" id="{9DD97923-6E15-1444-B624-EEA46A227204}"/>
                </a:ext>
              </a:extLst>
            </p:cNvPr>
            <p:cNvGrpSpPr/>
            <p:nvPr/>
          </p:nvGrpSpPr>
          <p:grpSpPr>
            <a:xfrm>
              <a:off x="6065384" y="5410836"/>
              <a:ext cx="2835038" cy="1177865"/>
              <a:chOff x="6273466" y="1404409"/>
              <a:chExt cx="2835038" cy="656106"/>
            </a:xfrm>
          </p:grpSpPr>
          <p:sp>
            <p:nvSpPr>
              <p:cNvPr id="55" name="矩形: 圓角 54">
                <a:extLst>
                  <a:ext uri="{FF2B5EF4-FFF2-40B4-BE49-F238E27FC236}">
                    <a16:creationId xmlns:a16="http://schemas.microsoft.com/office/drawing/2014/main" id="{585F6C28-03C8-7FD1-15C0-C2469291050D}"/>
                  </a:ext>
                </a:extLst>
              </p:cNvPr>
              <p:cNvSpPr/>
              <p:nvPr/>
            </p:nvSpPr>
            <p:spPr>
              <a:xfrm>
                <a:off x="6273466" y="1404409"/>
                <a:ext cx="2402990" cy="656106"/>
              </a:xfrm>
              <a:prstGeom prst="roundRect">
                <a:avLst/>
              </a:prstGeom>
              <a:noFill/>
              <a:ln w="19050"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1741F6D3-C547-229F-FF73-81C7AC745C7E}"/>
                  </a:ext>
                </a:extLst>
              </p:cNvPr>
              <p:cNvSpPr txBox="1"/>
              <p:nvPr/>
            </p:nvSpPr>
            <p:spPr>
              <a:xfrm>
                <a:off x="6358836" y="1473388"/>
                <a:ext cx="27496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動態路徑規劃演算法、</a:t>
                </a:r>
                <a:endPara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GIS</a:t>
                </a: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道路網絡模型</a:t>
                </a:r>
              </a:p>
            </p:txBody>
          </p:sp>
        </p:grp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D609F874-EDC9-6B18-B642-0867ADE85210}"/>
                </a:ext>
              </a:extLst>
            </p:cNvPr>
            <p:cNvSpPr/>
            <p:nvPr/>
          </p:nvSpPr>
          <p:spPr>
            <a:xfrm>
              <a:off x="467544" y="2859431"/>
              <a:ext cx="8125068" cy="3873288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00139DE6-7FE4-3EB9-E6D3-753DC424A4EF}"/>
              </a:ext>
            </a:extLst>
          </p:cNvPr>
          <p:cNvSpPr txBox="1"/>
          <p:nvPr/>
        </p:nvSpPr>
        <p:spPr>
          <a:xfrm>
            <a:off x="165035" y="4248733"/>
            <a:ext cx="3863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電動巴士火災模擬</a:t>
            </a: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4C65318B-CA99-E5D3-CE14-06CCB53CE0E5}"/>
              </a:ext>
            </a:extLst>
          </p:cNvPr>
          <p:cNvSpPr txBox="1"/>
          <p:nvPr/>
        </p:nvSpPr>
        <p:spPr>
          <a:xfrm>
            <a:off x="165034" y="1699474"/>
            <a:ext cx="3863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前置作業</a:t>
            </a:r>
          </a:p>
        </p:txBody>
      </p:sp>
    </p:spTree>
    <p:extLst>
      <p:ext uri="{BB962C8B-B14F-4D97-AF65-F5344CB8AC3E}">
        <p14:creationId xmlns:p14="http://schemas.microsoft.com/office/powerpoint/2010/main" val="3864426379"/>
      </p:ext>
    </p:extLst>
  </p:cSld>
  <p:clrMapOvr>
    <a:masterClrMapping/>
  </p:clrMapOvr>
</p:sld>
</file>

<file path=ppt/slides/slide6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ADC1DA-8328-CA3F-4781-67E99245C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求解環境與實驗設定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64F84-0A9A-153C-F0A5-6E5FC6358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033" y="1071953"/>
            <a:ext cx="4349975" cy="521993"/>
          </a:xfrm>
        </p:spPr>
        <p:txBody>
          <a:bodyPr/>
          <a:lstStyle/>
          <a:p>
            <a:r>
              <a:rPr lang="en-US" altLang="zh-TW" sz="2400" dirty="0"/>
              <a:t>三種模型皆為 SP + MCVaR + DRO，僅模糊集不同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F0C421C-8F2E-85FE-429E-E4422BC5C604}"/>
              </a:ext>
            </a:extLst>
          </p:cNvPr>
          <p:cNvCxnSpPr>
            <a:cxnSpLocks/>
            <a:stCxn id="7" idx="3"/>
            <a:endCxn id="24" idx="1"/>
          </p:cNvCxnSpPr>
          <p:nvPr/>
        </p:nvCxnSpPr>
        <p:spPr>
          <a:xfrm>
            <a:off x="3098388" y="3897052"/>
            <a:ext cx="196590" cy="554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64A140BA-37B3-8CF4-E104-C1AC382F6413}"/>
              </a:ext>
            </a:extLst>
          </p:cNvPr>
          <p:cNvCxnSpPr>
            <a:cxnSpLocks/>
            <a:stCxn id="24" idx="3"/>
            <a:endCxn id="29" idx="1"/>
          </p:cNvCxnSpPr>
          <p:nvPr/>
        </p:nvCxnSpPr>
        <p:spPr>
          <a:xfrm flipV="1">
            <a:off x="6040703" y="3897052"/>
            <a:ext cx="196590" cy="554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046FE7EE-BAE9-6FF9-D58A-680005D5217B}"/>
              </a:ext>
            </a:extLst>
          </p:cNvPr>
          <p:cNvGrpSpPr/>
          <p:nvPr/>
        </p:nvGrpSpPr>
        <p:grpSpPr>
          <a:xfrm>
            <a:off x="352663" y="2132856"/>
            <a:ext cx="2745725" cy="3528392"/>
            <a:chOff x="458122" y="2132856"/>
            <a:chExt cx="2745725" cy="3528392"/>
          </a:xfrm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21AF95D8-2D7B-C367-9DFB-F4771E6C661B}"/>
                </a:ext>
              </a:extLst>
            </p:cNvPr>
            <p:cNvSpPr/>
            <p:nvPr/>
          </p:nvSpPr>
          <p:spPr>
            <a:xfrm>
              <a:off x="458122" y="2132856"/>
              <a:ext cx="2745725" cy="352839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61937DBE-08D8-C824-386A-D2C158397C87}"/>
                </a:ext>
              </a:extLst>
            </p:cNvPr>
            <p:cNvSpPr txBox="1"/>
            <p:nvPr/>
          </p:nvSpPr>
          <p:spPr>
            <a:xfrm>
              <a:off x="566928" y="2384664"/>
              <a:ext cx="25603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400" b="1" dirty="0">
                  <a:solidFill>
                    <a:schemeClr val="tx1"/>
                  </a:solidFill>
                </a:rPr>
                <a:t>情境設定</a:t>
              </a:r>
            </a:p>
          </p:txBody>
        </p:sp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267102C9-FD0A-2BEC-763D-A6170CA72BEA}"/>
                </a:ext>
              </a:extLst>
            </p:cNvPr>
            <p:cNvGrpSpPr/>
            <p:nvPr/>
          </p:nvGrpSpPr>
          <p:grpSpPr>
            <a:xfrm>
              <a:off x="611560" y="2996952"/>
              <a:ext cx="2448272" cy="2448272"/>
              <a:chOff x="695342" y="2996952"/>
              <a:chExt cx="2302684" cy="2448272"/>
            </a:xfrm>
          </p:grpSpPr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C1CD7199-314B-2FE4-56B1-21B6036E6C95}"/>
                  </a:ext>
                </a:extLst>
              </p:cNvPr>
              <p:cNvSpPr/>
              <p:nvPr/>
            </p:nvSpPr>
            <p:spPr>
              <a:xfrm>
                <a:off x="695342" y="2996952"/>
                <a:ext cx="2302684" cy="244827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28BA65A-46D5-3590-258A-549529BF51D1}"/>
                  </a:ext>
                </a:extLst>
              </p:cNvPr>
              <p:cNvSpPr txBox="1"/>
              <p:nvPr/>
            </p:nvSpPr>
            <p:spPr>
              <a:xfrm>
                <a:off x="695342" y="3212976"/>
                <a:ext cx="2302684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情境數 |Ξ| = 50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/>
                </a: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期數 |T| = 8（每期 30 分鐘）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/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共涵蓋災後 4 小時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/>
                </a: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不確定性：傷患需求、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/>
                </a: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道路可通行率、醫院收容量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/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/>
                </a:r>
                <a:endPara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/>
                </a:r>
                <a:endPara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CC7A9188-AE29-3FB3-B786-4BFE0B25B06D}"/>
              </a:ext>
            </a:extLst>
          </p:cNvPr>
          <p:cNvGrpSpPr/>
          <p:nvPr/>
        </p:nvGrpSpPr>
        <p:grpSpPr>
          <a:xfrm>
            <a:off x="3294978" y="2133410"/>
            <a:ext cx="2745725" cy="3528392"/>
            <a:chOff x="3424976" y="2121352"/>
            <a:chExt cx="2745725" cy="3528392"/>
          </a:xfrm>
        </p:grpSpPr>
        <p:sp>
          <p:nvSpPr>
            <p:cNvPr id="24" name="矩形: 圓角 23">
              <a:extLst>
                <a:ext uri="{FF2B5EF4-FFF2-40B4-BE49-F238E27FC236}">
                  <a16:creationId xmlns:a16="http://schemas.microsoft.com/office/drawing/2014/main" id="{DC6C4CF7-25E4-7793-F968-AE9A98242F1A}"/>
                </a:ext>
              </a:extLst>
            </p:cNvPr>
            <p:cNvSpPr/>
            <p:nvPr/>
          </p:nvSpPr>
          <p:spPr>
            <a:xfrm>
              <a:off x="3424976" y="2121352"/>
              <a:ext cx="2745725" cy="352839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F99C82FE-926A-1B44-A538-6EF152C7B164}"/>
                </a:ext>
              </a:extLst>
            </p:cNvPr>
            <p:cNvSpPr txBox="1"/>
            <p:nvPr/>
          </p:nvSpPr>
          <p:spPr>
            <a:xfrm>
              <a:off x="3474720" y="2348880"/>
              <a:ext cx="25603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400" b="1" dirty="0">
                  <a:solidFill>
                    <a:schemeClr val="tx1"/>
                  </a:solidFill>
                </a:rPr>
                <a:t>風險模型</a:t>
              </a:r>
            </a:p>
          </p:txBody>
        </p: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D671EC22-D871-38B7-A45B-46CFC85F533D}"/>
                </a:ext>
              </a:extLst>
            </p:cNvPr>
            <p:cNvGrpSpPr/>
            <p:nvPr/>
          </p:nvGrpSpPr>
          <p:grpSpPr>
            <a:xfrm>
              <a:off x="3563888" y="3039276"/>
              <a:ext cx="2448272" cy="2448272"/>
              <a:chOff x="695342" y="2996952"/>
              <a:chExt cx="2302684" cy="2448272"/>
            </a:xfrm>
          </p:grpSpPr>
          <p:sp>
            <p:nvSpPr>
              <p:cNvPr id="27" name="矩形: 圓角 26">
                <a:extLst>
                  <a:ext uri="{FF2B5EF4-FFF2-40B4-BE49-F238E27FC236}">
                    <a16:creationId xmlns:a16="http://schemas.microsoft.com/office/drawing/2014/main" id="{E6D88006-B28A-0ECB-4A01-5BBCBCDB1C06}"/>
                  </a:ext>
                </a:extLst>
              </p:cNvPr>
              <p:cNvSpPr/>
              <p:nvPr/>
            </p:nvSpPr>
            <p:spPr>
              <a:xfrm>
                <a:off x="695342" y="2996952"/>
                <a:ext cx="2302684" cy="244827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2C2EC20C-EB11-CCB4-7152-5D0BBD205B91}"/>
                  </a:ext>
                </a:extLst>
              </p:cNvPr>
              <p:cNvSpPr txBox="1"/>
              <p:nvPr/>
            </p:nvSpPr>
            <p:spPr>
              <a:xfrm>
                <a:off x="695342" y="3212976"/>
                <a:ext cx="230268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均值 – CVaR（MCVaR）</a:t>
                </a:r>
                <a:endPara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α = 0.9、λ = 0.5</a:t>
                </a:r>
                <a:endPara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模糊集：Box、Ellipsoidal、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/>
                </a: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Polyhedral</a:t>
                </a:r>
                <a:endPara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三者皆疊加於 MCVaR 之上</a:t>
                </a:r>
                <a:endPara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2295C4A8-99E3-41EA-1C51-3715E63A16BD}"/>
              </a:ext>
            </a:extLst>
          </p:cNvPr>
          <p:cNvGrpSpPr/>
          <p:nvPr/>
        </p:nvGrpSpPr>
        <p:grpSpPr>
          <a:xfrm>
            <a:off x="6237293" y="2132856"/>
            <a:ext cx="2745725" cy="3528392"/>
            <a:chOff x="6237293" y="2132856"/>
            <a:chExt cx="2745725" cy="3528392"/>
          </a:xfrm>
        </p:grpSpPr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31E6D885-2DC1-A70D-D179-D645DA257F6E}"/>
                </a:ext>
              </a:extLst>
            </p:cNvPr>
            <p:cNvSpPr/>
            <p:nvPr/>
          </p:nvSpPr>
          <p:spPr>
            <a:xfrm>
              <a:off x="6237293" y="2132856"/>
              <a:ext cx="2745725" cy="352839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7E5842A8-E9FA-E494-7D74-1D71CC28932D}"/>
                </a:ext>
              </a:extLst>
            </p:cNvPr>
            <p:cNvSpPr txBox="1"/>
            <p:nvPr/>
          </p:nvSpPr>
          <p:spPr>
            <a:xfrm>
              <a:off x="6318504" y="2348879"/>
              <a:ext cx="25603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400" b="1" dirty="0">
                  <a:solidFill>
                    <a:schemeClr val="tx1"/>
                  </a:solidFill>
                </a:rPr>
                <a:t>求解條件</a:t>
              </a: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91184CBF-47B8-99FC-EECE-0203FFC0AC94}"/>
                </a:ext>
              </a:extLst>
            </p:cNvPr>
            <p:cNvSpPr/>
            <p:nvPr/>
          </p:nvSpPr>
          <p:spPr>
            <a:xfrm>
              <a:off x="6372200" y="3039276"/>
              <a:ext cx="2448272" cy="2448272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20A51D5E-95FD-4879-28E6-9195F3CDD5F5}"/>
                </a:ext>
              </a:extLst>
            </p:cNvPr>
            <p:cNvSpPr txBox="1"/>
            <p:nvPr/>
          </p:nvSpPr>
          <p:spPr>
            <a:xfrm>
              <a:off x="6372200" y="3338989"/>
              <a:ext cx="244827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fontAlgn="t">
                <a:buFont typeface="Arial" panose="020B0604020202020204" pitchFamily="34" charset="0"/>
                <a:buChar char="•"/>
              </a:pPr>
              <a:r>
                <a:rPr lang="zh-TW" altLang="zh-TW" sz="14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求解器 Gurobi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zh-TW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T</m:t>
                      </m:r>
                    </m:e>
                    <m:sub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eva</m:t>
                      </m:r>
                    </m:sub>
                  </m:sSub>
                  <m:r>
                    <a:rPr lang="en-US" altLang="zh-TW" sz="1400">
                      <a:solidFill>
                        <a:srgbClr val="000000"/>
                      </a:solidFill>
                      <a:latin typeface="Cambria Math" panose="02040503050406030204" pitchFamily="18" charset="0"/>
                      <a:ea typeface="微軟正黑體" panose="020B0604030504040204" pitchFamily="34" charset="-120"/>
                    </a:rPr>
                    <m:t> </m:t>
                  </m:r>
                </m:oMath>
              </a14:m>
              <a:r>
                <a:rPr lang="zh-TW" altLang="zh-TW" sz="14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/>
              </a:r>
              <a:endPara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 fontAlgn="t">
                <a:buFont typeface="Arial" panose="020B0604020202020204" pitchFamily="34" charset="0"/>
                <a:buChar char="•"/>
              </a:pPr>
              <a:r>
                <a:rPr lang="zh-TW" altLang="zh-TW" sz="14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時限 7,200 秒／格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zh-TW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T</m:t>
                      </m:r>
                    </m:e>
                    <m:sub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hos</m:t>
                      </m:r>
                    </m:sub>
                  </m:sSub>
                  <m:r>
                    <a:rPr lang="en-US" altLang="zh-TW" sz="1400">
                      <a:solidFill>
                        <a:srgbClr val="000000"/>
                      </a:solidFill>
                      <a:latin typeface="Cambria Math" panose="02040503050406030204" pitchFamily="18" charset="0"/>
                      <a:ea typeface="微軟正黑體" panose="020B0604030504040204" pitchFamily="34" charset="-120"/>
                    </a:rPr>
                    <m:t> </m:t>
                  </m:r>
                </m:oMath>
              </a14:m>
              <a:r>
                <a:rPr lang="zh-TW" altLang="zh-TW" sz="14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/>
              </a:r>
              <a:endPara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 fontAlgn="t">
                <a:buFont typeface="Arial" panose="020B0604020202020204" pitchFamily="34" charset="0"/>
                <a:buChar char="•"/>
              </a:pPr>
              <a:r>
                <a:rPr lang="zh-TW" altLang="zh-TW" sz="14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MIP Gap 門檻 1%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zh-TW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T</m:t>
                      </m:r>
                    </m:e>
                    <m:sub>
                      <m:r>
                        <a:rPr lang="en-US" altLang="zh-TW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𝑡𝑜𝑥</m:t>
                      </m:r>
                    </m:sub>
                  </m:sSub>
                  <m:r>
                    <a:rPr lang="en-US" altLang="zh-TW" sz="1400">
                      <a:solidFill>
                        <a:srgbClr val="000000"/>
                      </a:solidFill>
                      <a:latin typeface="Cambria Math" panose="02040503050406030204" pitchFamily="18" charset="0"/>
                      <a:ea typeface="微軟正黑體" panose="020B0604030504040204" pitchFamily="34" charset="-120"/>
                    </a:rPr>
                    <m:t> </m:t>
                  </m:r>
                </m:oMath>
              </a14:m>
              <a:endPara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 fontAlgn="t">
                <a:buFont typeface="Arial" panose="020B0604020202020204" pitchFamily="34" charset="0"/>
                <a:buChar char="•"/>
              </a:pPr>
              <a:r>
                <a:rPr lang="zh-TW" altLang="zh-TW" sz="14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達到門檻即提前終止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zh-TW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N</m:t>
                      </m:r>
                    </m:e>
                    <m:sub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cas</m:t>
                      </m:r>
                    </m:sub>
                  </m:sSub>
                  <m:r>
                    <a:rPr lang="en-US" altLang="zh-TW" sz="1400">
                      <a:solidFill>
                        <a:srgbClr val="000000"/>
                      </a:solidFill>
                      <a:latin typeface="Cambria Math" panose="02040503050406030204" pitchFamily="18" charset="0"/>
                      <a:ea typeface="微軟正黑體" panose="020B0604030504040204" pitchFamily="34" charset="-120"/>
                    </a:rPr>
                    <m:t> </m:t>
                  </m:r>
                </m:oMath>
              </a14:m>
              <a:endPara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9073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5E9FFE-36A5-45DC-702C-D901D6CB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三種規模算例之網路構成與資源參數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87DB6-DAD4-56FD-84D3-9B1D262E5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09" y="1124744"/>
            <a:ext cx="8582915" cy="432048"/>
          </a:xfrm>
        </p:spPr>
        <p:txBody>
          <a:bodyPr/>
          <a:lstStyle/>
          <a:p>
            <a:r>
              <a:rPr lang="zh-TW" altLang="en-US" dirty="0"/>
              <a:t>候選 CCP 數與醫院數三規模固定，僅災區數變動</a:t>
            </a:r>
            <a:r>
              <a:rPr lang="en-US" altLang="zh-TW" dirty="0"/>
              <a:t/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9D0D0FC-4D7E-30C9-F4A3-31E4A5AA0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45208"/>
              </p:ext>
            </p:extLst>
          </p:nvPr>
        </p:nvGraphicFramePr>
        <p:xfrm>
          <a:off x="395536" y="1772817"/>
          <a:ext cx="8255986" cy="460851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383489592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3803865914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3979718141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3467076613"/>
                    </a:ext>
                  </a:extLst>
                </a:gridCol>
              </a:tblGrid>
              <a:tr h="658359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43638"/>
                  </a:ext>
                </a:extLst>
              </a:tr>
              <a:tr h="658359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災區數 |I|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907842"/>
                  </a:ext>
                </a:extLst>
              </a:tr>
              <a:tr h="658359">
                <a:tc>
                  <a:txBody>
                    <a:bodyPr/>
                    <a:lstStyle/>
                    <a:p>
                      <a:r>
                        <a:rPr lang="zh-TW" dirty="0"/>
                        <a:t>候選 CCP 數 |J|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20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381364"/>
                  </a:ext>
                </a:extLst>
              </a:tr>
              <a:tr h="658359">
                <a:tc>
                  <a:txBody>
                    <a:bodyPr/>
                    <a:lstStyle/>
                    <a:p>
                      <a:r>
                        <a:rPr lang="zh-TW" dirty="0"/>
                        <a:t>醫院數 |H|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18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547998"/>
                  </a:ext>
                </a:extLst>
              </a:tr>
              <a:tr h="658359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可派遣醫護總數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125832"/>
                  </a:ext>
                </a:extLst>
              </a:tr>
              <a:tr h="658359">
                <a:tc>
                  <a:txBody>
                    <a:bodyPr/>
                    <a:lstStyle/>
                    <a:p>
                      <a:r>
                        <a:rPr lang="zh-TW" dirty="0"/>
                        <a:t>CCP 救護車總數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134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201823"/>
                  </a:ext>
                </a:extLst>
              </a:tr>
              <a:tr h="658359">
                <a:tc>
                  <a:txBody>
                    <a:bodyPr/>
                    <a:lstStyle/>
                    <a:p>
                      <a:r>
                        <a:rPr lang="zh-TW" dirty="0"/>
                        <a:t>情境數 |Ξ| ／ 期數 |T|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50 ／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50 ／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50 ／ 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062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550720"/>
      </p:ext>
    </p:extLst>
  </p:cSld>
  <p:clrMapOvr>
    <a:masterClrMapping/>
  </p:clrMapOvr>
</p:sld>
</file>

<file path=ppt/slides/slide8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9512" y="2852936"/>
            <a:ext cx="87639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6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Thanks for your listening</a:t>
            </a:r>
            <a:endParaRPr lang="zh-TW" altLang="en-US" sz="36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97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ECA84D-B1BC-5918-54C2-F2D459AE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為什麼需要加速？整體式求解的瓶頸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5A16109-9DEB-F6AE-FEF0-572CE37B6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033" y="1071953"/>
            <a:ext cx="8582915" cy="1060903"/>
          </a:xfrm>
        </p:spPr>
        <p:txBody>
          <a:bodyPr/>
          <a:lstStyle/>
          <a:p>
            <a:r>
              <a:rPr lang="zh-TW" altLang="en-US" sz="1800" b="1" dirty="0"/>
              <a:t>觀察：</a:t>
            </a:r>
            <a:r>
              <a:rPr lang="zh-TW" altLang="en-US" sz="1800" dirty="0"/>
              <a:t>large 規模下，Extensive Form 在 2 小時內僅探索 1 個分支節點</a:t>
            </a:r>
            <a:endParaRPr lang="en-US" altLang="zh-TW" sz="1800" dirty="0"/>
          </a:p>
          <a:p>
            <a:r>
              <a:rPr lang="zh-TW" altLang="en-US" sz="1800" b="1" dirty="0"/>
              <a:t>原因：</a:t>
            </a:r>
            <a:r>
              <a:rPr lang="zh-TW" altLang="en-US" sz="1800" dirty="0"/>
              <a:t xml:space="preserve">50 個情境一次展開，模型達 </a:t>
            </a:r>
            <a:r>
              <a:rPr lang="zh-TW" altLang="en-US" sz="1800" dirty="0">
                <a:solidFill>
                  <a:srgbClr val="C00000"/>
                </a:solidFill>
              </a:rPr>
              <a:t>數百萬個變數</a:t>
            </a:r>
            <a:r>
              <a:rPr lang="zh-TW" altLang="en-US" sz="1800" dirty="0"/>
              <a:t xml:space="preserve">；B&amp;BC 則把主問題壓到 </a:t>
            </a:r>
            <a:r>
              <a:rPr lang="zh-TW" altLang="en-US" sz="1800" dirty="0">
                <a:solidFill>
                  <a:srgbClr val="C00000"/>
                </a:solidFill>
              </a:rPr>
              <a:t>20 + 50 個變數</a:t>
            </a:r>
            <a:r>
              <a:rPr lang="zh-TW" altLang="en-US" sz="1800" dirty="0"/>
              <a:t/>
            </a:r>
          </a:p>
          <a:p>
            <a:pPr marL="514350" lvl="1" indent="0">
              <a:buClr>
                <a:schemeClr val="accent4">
                  <a:lumMod val="50000"/>
                </a:schemeClr>
              </a:buClr>
              <a:buNone/>
            </a:pPr>
            <a:endParaRPr lang="en-US" altLang="zh-TW" sz="22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05CC48B-7061-3365-1E2A-BD904A4ED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417040"/>
              </p:ext>
            </p:extLst>
          </p:nvPr>
        </p:nvGraphicFramePr>
        <p:xfrm>
          <a:off x="766647" y="2636912"/>
          <a:ext cx="7560840" cy="283174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188088758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683986011"/>
                    </a:ext>
                  </a:extLst>
                </a:gridCol>
                <a:gridCol w="2944368">
                  <a:extLst>
                    <a:ext uri="{9D8B030D-6E8A-4147-A177-3AD203B41FA5}">
                      <a16:colId xmlns:a16="http://schemas.microsoft.com/office/drawing/2014/main" val="2889938831"/>
                    </a:ext>
                  </a:extLst>
                </a:gridCol>
              </a:tblGrid>
              <a:tr h="39842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比較項目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Extensive Form（整體式）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dirty="0"/>
                        <a:t>Branch-and-Benders-Cut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092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求解方式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i="1" dirty="0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a:t>50 情境一次展開為單一 MILP</a:t>
                      </a:r>
                      <a:endParaRPr lang="zh-TW" altLang="en-US" sz="1600" i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主問題 + 50 個情境子問題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208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dirty="0"/>
                        <a:t>主問題變數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i="1" dirty="0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a:t>數百萬個</a:t>
                      </a:r>
                      <a:endParaRPr lang="zh-TW" altLang="en-US" sz="1600" i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20 個設站 0-1 變數 + 50 個 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652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二階處理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與主問題一同求解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每情境獨立 LP，可平行求解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646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dirty="0"/>
                        <a:t>割平面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 lazy constraint 逐步回饋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272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dirty="0"/>
                        <a:t>large 探索節點數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數千至數萬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051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109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5E9FFE-36A5-45DC-702C-D901D6CB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加速策略（一）：暖啟動與割平面強化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87DB6-DAD4-56FD-84D3-9B1D262E5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09" y="1124744"/>
            <a:ext cx="8582915" cy="432048"/>
          </a:xfrm>
        </p:spPr>
        <p:txBody>
          <a:bodyPr/>
          <a:lstStyle/>
          <a:p>
            <a:r>
              <a:rPr lang="zh-TW" altLang="en-US" dirty="0"/>
              <a:t>四項策略皆針對「割平面的品質與加入時機」</a:t>
            </a:r>
            <a:r>
              <a:rPr lang="en-US" altLang="zh-TW" dirty="0"/>
              <a:t/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9D0D0FC-4D7E-30C9-F4A3-31E4A5AA0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45208"/>
              </p:ext>
            </p:extLst>
          </p:nvPr>
        </p:nvGraphicFramePr>
        <p:xfrm>
          <a:off x="395536" y="1772817"/>
          <a:ext cx="8255986" cy="460851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3834895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0386591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979718141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3467076613"/>
                    </a:ext>
                  </a:extLst>
                </a:gridCol>
              </a:tblGrid>
              <a:tr h="658359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縮寫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全名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中文名稱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作用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43638"/>
                  </a:ext>
                </a:extLst>
              </a:tr>
              <a:tr h="658359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Warm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期望值解暖啟動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先解期望值問題（EV）取得一階可行解，作為主問題初始整數解，第一次迭代即具備有效上界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907842"/>
                  </a:ext>
                </a:extLst>
              </a:tr>
              <a:tr h="658359">
                <a:tc>
                  <a:txBody>
                    <a:bodyPr/>
                    <a:lstStyle/>
                    <a:p>
                      <a:r>
                        <a:rPr lang="zh-TW" dirty="0"/>
                        <a:t>RS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Root Seeding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根節點割平面預熱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正式分支前，先對主問題的 LP 鬆弛反覆加入 Benders 割，將根節點下界墊高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381364"/>
                  </a:ext>
                </a:extLst>
              </a:tr>
              <a:tr h="658359">
                <a:tc>
                  <a:txBody>
                    <a:bodyPr/>
                    <a:lstStyle/>
                    <a:p>
                      <a:r>
                        <a:rPr lang="zh-TW" dirty="0"/>
                        <a:t>UC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User Cuts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根節點分數解割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除整數解處的 lazy cut 外，於根節點的分數解亦產生 Benders 割，提高覆蓋密度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547998"/>
                  </a:ext>
                </a:extLst>
              </a:tr>
              <a:tr h="658359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Pareto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Pareto-optimal Cuts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帕雷托最優割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對偶最適解不唯一時，依 Magnanti–Wong／Papadakos 核心點方向挑選支配性最強者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125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550720"/>
      </p:ext>
    </p:extLst>
  </p:cSld>
  <p:clrMapOvr>
    <a:masterClrMapping/>
  </p:clrMapOvr>
</p:sld>
</file>

<file path=ppt/slides/slide11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ADC1DA-8328-CA3F-4781-67E99245C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加速策略（二）：結構性下界與有效不等式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64F84-0A9A-153C-F0A5-6E5FC6358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033" y="1071953"/>
            <a:ext cx="4349975" cy="521993"/>
          </a:xfrm>
        </p:spPr>
        <p:txBody>
          <a:bodyPr/>
          <a:lstStyle/>
          <a:p>
            <a:r>
              <a:rPr lang="en-US" altLang="zh-TW" sz="2400" dirty="0"/>
              <a:t>兩項策略從模型結構本身強化，而非只增加割平面數量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F0C421C-8F2E-85FE-429E-E4422BC5C604}"/>
              </a:ext>
            </a:extLst>
          </p:cNvPr>
          <p:cNvCxnSpPr>
            <a:cxnSpLocks/>
            <a:stCxn id="7" idx="3"/>
            <a:endCxn id="24" idx="1"/>
          </p:cNvCxnSpPr>
          <p:nvPr/>
        </p:nvCxnSpPr>
        <p:spPr>
          <a:xfrm>
            <a:off x="3098388" y="3897052"/>
            <a:ext cx="196590" cy="554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64A140BA-37B3-8CF4-E104-C1AC382F6413}"/>
              </a:ext>
            </a:extLst>
          </p:cNvPr>
          <p:cNvCxnSpPr>
            <a:cxnSpLocks/>
            <a:stCxn id="24" idx="3"/>
            <a:endCxn id="29" idx="1"/>
          </p:cNvCxnSpPr>
          <p:nvPr/>
        </p:nvCxnSpPr>
        <p:spPr>
          <a:xfrm flipV="1">
            <a:off x="6040703" y="3897052"/>
            <a:ext cx="196590" cy="554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046FE7EE-BAE9-6FF9-D58A-680005D5217B}"/>
              </a:ext>
            </a:extLst>
          </p:cNvPr>
          <p:cNvGrpSpPr/>
          <p:nvPr/>
        </p:nvGrpSpPr>
        <p:grpSpPr>
          <a:xfrm>
            <a:off x="352663" y="2132856"/>
            <a:ext cx="2745725" cy="3528392"/>
            <a:chOff x="458122" y="2132856"/>
            <a:chExt cx="2745725" cy="3528392"/>
          </a:xfrm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21AF95D8-2D7B-C367-9DFB-F4771E6C661B}"/>
                </a:ext>
              </a:extLst>
            </p:cNvPr>
            <p:cNvSpPr/>
            <p:nvPr/>
          </p:nvSpPr>
          <p:spPr>
            <a:xfrm>
              <a:off x="458122" y="2132856"/>
              <a:ext cx="2745725" cy="352839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61937DBE-08D8-C824-386A-D2C158397C87}"/>
                </a:ext>
              </a:extLst>
            </p:cNvPr>
            <p:cNvSpPr txBox="1"/>
            <p:nvPr/>
          </p:nvSpPr>
          <p:spPr>
            <a:xfrm>
              <a:off x="566928" y="2384664"/>
              <a:ext cx="25603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400" b="1" dirty="0">
                  <a:solidFill>
                    <a:schemeClr val="tx1"/>
                  </a:solidFill>
                </a:rPr>
                <a:t>LBF</a:t>
              </a:r>
            </a:p>
          </p:txBody>
        </p:sp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267102C9-FD0A-2BEC-763D-A6170CA72BEA}"/>
                </a:ext>
              </a:extLst>
            </p:cNvPr>
            <p:cNvGrpSpPr/>
            <p:nvPr/>
          </p:nvGrpSpPr>
          <p:grpSpPr>
            <a:xfrm>
              <a:off x="611560" y="2996952"/>
              <a:ext cx="2448272" cy="2448272"/>
              <a:chOff x="695342" y="2996952"/>
              <a:chExt cx="2302684" cy="2448272"/>
            </a:xfrm>
          </p:grpSpPr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C1CD7199-314B-2FE4-56B1-21B6036E6C95}"/>
                  </a:ext>
                </a:extLst>
              </p:cNvPr>
              <p:cNvSpPr/>
              <p:nvPr/>
            </p:nvSpPr>
            <p:spPr>
              <a:xfrm>
                <a:off x="695342" y="2996952"/>
                <a:ext cx="2302684" cy="244827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28BA65A-46D5-3590-258A-549529BF51D1}"/>
                  </a:ext>
                </a:extLst>
              </p:cNvPr>
              <p:cNvSpPr txBox="1"/>
              <p:nvPr/>
            </p:nvSpPr>
            <p:spPr>
              <a:xfrm>
                <a:off x="695342" y="3212976"/>
                <a:ext cx="2302684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Lower Bounding Functional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/>
                </a: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（下界泛函）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/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將「平均情境」的完整二階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/>
                </a: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線性規劃嵌入主問題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/>
                </a: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（Jensen 不等式）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/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第一次迭代即得結構性下界</a:t>
                </a:r>
                <a:endPara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/>
                </a:r>
                <a:endPara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CC7A9188-AE29-3FB3-B786-4BFE0B25B06D}"/>
              </a:ext>
            </a:extLst>
          </p:cNvPr>
          <p:cNvGrpSpPr/>
          <p:nvPr/>
        </p:nvGrpSpPr>
        <p:grpSpPr>
          <a:xfrm>
            <a:off x="3294978" y="2133410"/>
            <a:ext cx="2745725" cy="3528392"/>
            <a:chOff x="3424976" y="2121352"/>
            <a:chExt cx="2745725" cy="3528392"/>
          </a:xfrm>
        </p:grpSpPr>
        <p:sp>
          <p:nvSpPr>
            <p:cNvPr id="24" name="矩形: 圓角 23">
              <a:extLst>
                <a:ext uri="{FF2B5EF4-FFF2-40B4-BE49-F238E27FC236}">
                  <a16:creationId xmlns:a16="http://schemas.microsoft.com/office/drawing/2014/main" id="{DC6C4CF7-25E4-7793-F968-AE9A98242F1A}"/>
                </a:ext>
              </a:extLst>
            </p:cNvPr>
            <p:cNvSpPr/>
            <p:nvPr/>
          </p:nvSpPr>
          <p:spPr>
            <a:xfrm>
              <a:off x="3424976" y="2121352"/>
              <a:ext cx="2745725" cy="352839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F99C82FE-926A-1B44-A538-6EF152C7B164}"/>
                </a:ext>
              </a:extLst>
            </p:cNvPr>
            <p:cNvSpPr txBox="1"/>
            <p:nvPr/>
          </p:nvSpPr>
          <p:spPr>
            <a:xfrm>
              <a:off x="3474720" y="2348880"/>
              <a:ext cx="25603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400" b="1" dirty="0">
                  <a:solidFill>
                    <a:schemeClr val="tx1"/>
                  </a:solidFill>
                </a:rPr>
                <a:t>VI</a:t>
              </a:r>
            </a:p>
          </p:txBody>
        </p: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D671EC22-D871-38B7-A45B-46CFC85F533D}"/>
                </a:ext>
              </a:extLst>
            </p:cNvPr>
            <p:cNvGrpSpPr/>
            <p:nvPr/>
          </p:nvGrpSpPr>
          <p:grpSpPr>
            <a:xfrm>
              <a:off x="3563888" y="3039276"/>
              <a:ext cx="2448272" cy="2448272"/>
              <a:chOff x="695342" y="2996952"/>
              <a:chExt cx="2302684" cy="2448272"/>
            </a:xfrm>
          </p:grpSpPr>
          <p:sp>
            <p:nvSpPr>
              <p:cNvPr id="27" name="矩形: 圓角 26">
                <a:extLst>
                  <a:ext uri="{FF2B5EF4-FFF2-40B4-BE49-F238E27FC236}">
                    <a16:creationId xmlns:a16="http://schemas.microsoft.com/office/drawing/2014/main" id="{E6D88006-B28A-0ECB-4A01-5BBCBCDB1C06}"/>
                  </a:ext>
                </a:extLst>
              </p:cNvPr>
              <p:cNvSpPr/>
              <p:nvPr/>
            </p:nvSpPr>
            <p:spPr>
              <a:xfrm>
                <a:off x="695342" y="2996952"/>
                <a:ext cx="2302684" cy="244827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2C2EC20C-EB11-CCB4-7152-5D0BBD205B91}"/>
                  </a:ext>
                </a:extLst>
              </p:cNvPr>
              <p:cNvSpPr txBox="1"/>
              <p:nvPr/>
            </p:nvSpPr>
            <p:spPr>
              <a:xfrm>
                <a:off x="695342" y="3212976"/>
                <a:ext cx="230268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Valid Inequalities（有效不等式）</a:t>
                </a:r>
                <a:endPara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共八條，依對可行域的影響分三類：</a:t>
                </a:r>
                <a:endPara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EXACT：僅收緊 big-M 係數</a:t>
                </a: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/>
                </a: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OPT：保證保留最佳解</a:t>
                </a:r>
                <a:endPara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RELAX：恆成立之鬆弛式</a:t>
                </a:r>
                <a:endPara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2295C4A8-99E3-41EA-1C51-3715E63A16BD}"/>
              </a:ext>
            </a:extLst>
          </p:cNvPr>
          <p:cNvGrpSpPr/>
          <p:nvPr/>
        </p:nvGrpSpPr>
        <p:grpSpPr>
          <a:xfrm>
            <a:off x="6237293" y="2132856"/>
            <a:ext cx="2745725" cy="3528392"/>
            <a:chOff x="6237293" y="2132856"/>
            <a:chExt cx="2745725" cy="3528392"/>
          </a:xfrm>
        </p:grpSpPr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31E6D885-2DC1-A70D-D179-D645DA257F6E}"/>
                </a:ext>
              </a:extLst>
            </p:cNvPr>
            <p:cNvSpPr/>
            <p:nvPr/>
          </p:nvSpPr>
          <p:spPr>
            <a:xfrm>
              <a:off x="6237293" y="2132856"/>
              <a:ext cx="2745725" cy="352839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7E5842A8-E9FA-E494-7D74-1D71CC28932D}"/>
                </a:ext>
              </a:extLst>
            </p:cNvPr>
            <p:cNvSpPr txBox="1"/>
            <p:nvPr/>
          </p:nvSpPr>
          <p:spPr>
            <a:xfrm>
              <a:off x="6318504" y="2348879"/>
              <a:ext cx="25603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400" b="1" dirty="0">
                  <a:solidFill>
                    <a:schemeClr val="tx1"/>
                  </a:solidFill>
                </a:rPr>
                <a:t>八條之配置</a:t>
              </a: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91184CBF-47B8-99FC-EECE-0203FFC0AC94}"/>
                </a:ext>
              </a:extLst>
            </p:cNvPr>
            <p:cNvSpPr/>
            <p:nvPr/>
          </p:nvSpPr>
          <p:spPr>
            <a:xfrm>
              <a:off x="6372200" y="3039276"/>
              <a:ext cx="2448272" cy="2448272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20A51D5E-95FD-4879-28E6-9195F3CDD5F5}"/>
                </a:ext>
              </a:extLst>
            </p:cNvPr>
            <p:cNvSpPr txBox="1"/>
            <p:nvPr/>
          </p:nvSpPr>
          <p:spPr>
            <a:xfrm>
              <a:off x="6372200" y="3338989"/>
              <a:ext cx="244827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fontAlgn="t">
                <a:buFont typeface="Arial" panose="020B0604020202020204" pitchFamily="34" charset="0"/>
                <a:buChar char="•"/>
              </a:pPr>
              <a:r>
                <a:rPr lang="zh-TW" altLang="zh-TW" sz="14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第二階段：道路容量、醫院限制式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zh-TW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T</m:t>
                      </m:r>
                    </m:e>
                    <m:sub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eva</m:t>
                      </m:r>
                    </m:sub>
                  </m:sSub>
                  <m:r>
                    <a:rPr lang="en-US" altLang="zh-TW" sz="1400">
                      <a:solidFill>
                        <a:srgbClr val="000000"/>
                      </a:solidFill>
                      <a:latin typeface="Cambria Math" panose="02040503050406030204" pitchFamily="18" charset="0"/>
                      <a:ea typeface="微軟正黑體" panose="020B0604030504040204" pitchFamily="34" charset="-120"/>
                    </a:rPr>
                    <m:t> </m:t>
                  </m:r>
                </m:oMath>
              </a14:m>
              <a:r>
                <a:rPr lang="zh-TW" altLang="zh-TW" sz="14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/>
              </a:r>
              <a:endPara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 fontAlgn="t">
                <a:buFont typeface="Arial" panose="020B0604020202020204" pitchFamily="34" charset="0"/>
                <a:buChar char="•"/>
              </a:pPr>
              <a:r>
                <a:rPr lang="zh-TW" altLang="zh-TW" sz="14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第一階段：醫護上界、開站連結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zh-TW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T</m:t>
                      </m:r>
                    </m:e>
                    <m:sub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hos</m:t>
                      </m:r>
                    </m:sub>
                  </m:sSub>
                  <m:r>
                    <a:rPr lang="en-US" altLang="zh-TW" sz="1400">
                      <a:solidFill>
                        <a:srgbClr val="000000"/>
                      </a:solidFill>
                      <a:latin typeface="Cambria Math" panose="02040503050406030204" pitchFamily="18" charset="0"/>
                      <a:ea typeface="微軟正黑體" panose="020B0604030504040204" pitchFamily="34" charset="-120"/>
                    </a:rPr>
                    <m:t> </m:t>
                  </m:r>
                </m:oMath>
              </a14:m>
              <a:r>
                <a:rPr lang="zh-TW" altLang="zh-TW" sz="14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/>
              </a:r>
              <a:endPara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 fontAlgn="t">
                <a:buFont typeface="Arial" panose="020B0604020202020204" pitchFamily="34" charset="0"/>
                <a:buChar char="•"/>
              </a:pPr>
              <a:r>
                <a:rPr lang="zh-TW" altLang="zh-TW" sz="14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主問題：情境成本上下界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zh-TW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T</m:t>
                      </m:r>
                    </m:e>
                    <m:sub>
                      <m:r>
                        <a:rPr lang="en-US" altLang="zh-TW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𝑡𝑜𝑥</m:t>
                      </m:r>
                    </m:sub>
                  </m:sSub>
                  <m:r>
                    <a:rPr lang="en-US" altLang="zh-TW" sz="1400">
                      <a:solidFill>
                        <a:srgbClr val="000000"/>
                      </a:solidFill>
                      <a:latin typeface="Cambria Math" panose="02040503050406030204" pitchFamily="18" charset="0"/>
                      <a:ea typeface="微軟正黑體" panose="020B0604030504040204" pitchFamily="34" charset="-120"/>
                    </a:rPr>
                    <m:t> </m:t>
                  </m:r>
                </m:oMath>
              </a14:m>
              <a:endPara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 fontAlgn="t">
                <a:buFont typeface="Arial" panose="020B0604020202020204" pitchFamily="34" charset="0"/>
                <a:buChar char="•"/>
              </a:pPr>
              <a:r>
                <a:rPr lang="zh-TW" altLang="zh-TW" sz="14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主問題：情境彙總鬆弛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zh-TW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N</m:t>
                      </m:r>
                    </m:e>
                    <m:sub>
                      <m:r>
                        <m:rPr>
                          <m:sty m:val="p"/>
                        </m:rPr>
                        <a:rPr lang="en-US" altLang="zh-TW" sz="1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cas</m:t>
                      </m:r>
                    </m:sub>
                  </m:sSub>
                  <m:r>
                    <a:rPr lang="en-US" altLang="zh-TW" sz="1400">
                      <a:solidFill>
                        <a:srgbClr val="000000"/>
                      </a:solidFill>
                      <a:latin typeface="Cambria Math" panose="02040503050406030204" pitchFamily="18" charset="0"/>
                      <a:ea typeface="微軟正黑體" panose="020B0604030504040204" pitchFamily="34" charset="-120"/>
                    </a:rPr>
                    <m:t> </m:t>
                  </m:r>
                </m:oMath>
              </a14:m>
              <a:endPara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9073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ECA84D-B1BC-5918-54C2-F2D459AE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實驗結果：S = 5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5A16109-9DEB-F6AE-FEF0-572CE37B6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033" y="1071953"/>
            <a:ext cx="8582915" cy="1060903"/>
          </a:xfrm>
        </p:spPr>
        <p:txBody>
          <a:bodyPr/>
          <a:lstStyle/>
          <a:p>
            <a:r>
              <a:rPr lang="zh-TW" altLang="en-US" sz="1800" b="1" dirty="0"/>
              <a:t>說明：</a:t>
            </a:r>
            <a:r>
              <a:rPr lang="zh-TW" altLang="en-US" sz="1800" dirty="0"/>
              <a:t>情境數設定錯誤之版本，惟其求解表現仍具參考價值</a:t>
            </a:r>
            <a:endParaRPr lang="en-US" altLang="zh-TW" sz="1800" dirty="0"/>
          </a:p>
          <a:p>
            <a:r>
              <a:rPr lang="zh-TW" altLang="en-US" sz="1800" b="1" dirty="0"/>
              <a:t/>
            </a:r>
            <a:r>
              <a:rPr lang="zh-TW" altLang="en-US" sz="1800" dirty="0"/>
              <a:t/>
            </a:r>
            <a:r>
              <a:rPr lang="zh-TW" altLang="en-US" sz="1800" dirty="0">
                <a:solidFill>
                  <a:srgbClr val="C00000"/>
                </a:solidFill>
              </a:rPr>
              <a:t/>
            </a:r>
            <a:r>
              <a:rPr lang="zh-TW" altLang="en-US" sz="1800" dirty="0"/>
              <a:t/>
            </a:r>
            <a:r>
              <a:rPr lang="zh-TW" altLang="en-US" sz="1800" dirty="0">
                <a:solidFill>
                  <a:srgbClr val="C00000"/>
                </a:solidFill>
              </a:rPr>
              <a:t/>
            </a:r>
            <a:r>
              <a:rPr lang="zh-TW" altLang="en-US" sz="1800" dirty="0"/>
              <a:t/>
            </a:r>
          </a:p>
          <a:p>
            <a:pPr marL="514350" lvl="1" indent="0">
              <a:buClr>
                <a:schemeClr val="accent4">
                  <a:lumMod val="50000"/>
                </a:schemeClr>
              </a:buClr>
              <a:buNone/>
            </a:pPr>
            <a:endParaRPr lang="en-US" altLang="zh-TW" sz="2200" dirty="0"/>
          </a:p>
        </p:txBody>
      </p:sp>
    </p:spTree>
    <p:extLst>
      <p:ext uri="{BB962C8B-B14F-4D97-AF65-F5344CB8AC3E}">
        <p14:creationId xmlns:p14="http://schemas.microsoft.com/office/powerpoint/2010/main" val="3600109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ECA84D-B1BC-5918-54C2-F2D459AE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實驗結果：S = 50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5A16109-9DEB-F6AE-FEF0-572CE37B6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033" y="1071953"/>
            <a:ext cx="8582915" cy="1060903"/>
          </a:xfrm>
        </p:spPr>
        <p:txBody>
          <a:bodyPr/>
          <a:lstStyle/>
          <a:p>
            <a:r>
              <a:rPr lang="zh-TW" altLang="en-US" sz="1800" b="1" dirty="0"/>
              <a:t>說明：</a:t>
            </a:r>
            <a:r>
              <a:rPr lang="zh-TW" altLang="en-US" sz="1800" dirty="0"/>
              <a:t>3 種規模 × 3 種模糊集 × 8 段方法，共 72 組算例</a:t>
            </a:r>
            <a:endParaRPr lang="en-US" altLang="zh-TW" sz="1800" dirty="0"/>
          </a:p>
          <a:p>
            <a:r>
              <a:rPr lang="zh-TW" altLang="en-US" sz="1800" b="1" dirty="0"/>
              <a:t/>
            </a:r>
            <a:r>
              <a:rPr lang="zh-TW" altLang="en-US" sz="1800" dirty="0"/>
              <a:t/>
            </a:r>
            <a:r>
              <a:rPr lang="zh-TW" altLang="en-US" sz="1800" dirty="0">
                <a:solidFill>
                  <a:srgbClr val="C00000"/>
                </a:solidFill>
              </a:rPr>
              <a:t/>
            </a:r>
            <a:r>
              <a:rPr lang="zh-TW" altLang="en-US" sz="1800" dirty="0"/>
              <a:t/>
            </a:r>
            <a:r>
              <a:rPr lang="zh-TW" altLang="en-US" sz="1800" dirty="0">
                <a:solidFill>
                  <a:srgbClr val="C00000"/>
                </a:solidFill>
              </a:rPr>
              <a:t/>
            </a:r>
            <a:r>
              <a:rPr lang="zh-TW" altLang="en-US" sz="1800" dirty="0"/>
              <a:t/>
            </a:r>
          </a:p>
          <a:p>
            <a:pPr marL="514350" lvl="1" indent="0">
              <a:buClr>
                <a:schemeClr val="accent4">
                  <a:lumMod val="50000"/>
                </a:schemeClr>
              </a:buClr>
              <a:buNone/>
            </a:pPr>
            <a:endParaRPr lang="en-US" altLang="zh-TW" sz="2200" dirty="0"/>
          </a:p>
        </p:txBody>
      </p:sp>
    </p:spTree>
    <p:extLst>
      <p:ext uri="{BB962C8B-B14F-4D97-AF65-F5344CB8AC3E}">
        <p14:creationId xmlns:p14="http://schemas.microsoft.com/office/powerpoint/2010/main" val="3600109852"/>
      </p:ext>
    </p:extLst>
  </p:cSld>
  <p:clrMapOvr>
    <a:masterClrMapping/>
  </p:clrMapOvr>
</p:sld>
</file>

<file path=ppt/slides/slide14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ECA84D-B1BC-5918-54C2-F2D459AE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後續研究工作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5A16109-9DEB-F6AE-FEF0-572CE37B6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033" y="1071953"/>
            <a:ext cx="8582915" cy="1060903"/>
          </a:xfrm>
        </p:spPr>
        <p:txBody>
          <a:bodyPr/>
          <a:lstStyle/>
          <a:p>
            <a:r>
              <a:rPr lang="zh-TW" altLang="en-US" sz="1800" b="1" dirty="0"/>
              <a:t>近期：</a:t>
            </a:r>
            <a:r>
              <a:rPr lang="zh-TW" altLang="en-US" sz="1800" dirty="0"/>
              <a:t>完成 S = 50 全矩陣 Ablation 實驗（預計 9 月 24 日）</a:t>
            </a:r>
            <a:endParaRPr lang="en-US" altLang="zh-TW" sz="1800" dirty="0"/>
          </a:p>
          <a:p>
            <a:r>
              <a:rPr lang="zh-TW" altLang="en-US" sz="1800" b="1" dirty="0"/>
              <a:t>接續：</a:t>
            </a:r>
            <a:r>
              <a:rPr lang="zh-TW" altLang="en-US" sz="1800" dirty="0"/>
              <a:t xml:space="preserve">先驗證三種模糊集之解具備顯著差異，再進行 </a:t>
            </a:r>
            <a:r>
              <a:rPr lang="zh-TW" altLang="en-US" sz="1800" dirty="0">
                <a:solidFill>
                  <a:srgbClr val="C00000"/>
                </a:solidFill>
              </a:rPr>
              <a:t>風險參數 α、λ 敏感度分析</a:t>
            </a:r>
            <a:r>
              <a:rPr lang="zh-TW" altLang="en-US" sz="1800" dirty="0"/>
              <a:t xml:space="preserve">，最後視進度評估 </a:t>
            </a:r>
            <a:r>
              <a:rPr lang="zh-TW" altLang="en-US" sz="1800" dirty="0">
                <a:solidFill>
                  <a:srgbClr val="C00000"/>
                </a:solidFill>
              </a:rPr>
              <a:t>台北市全區大型案例研究與樣本外測試</a:t>
            </a:r>
            <a:r>
              <a:rPr lang="zh-TW" altLang="en-US" sz="1800" dirty="0"/>
              <a:t/>
            </a:r>
          </a:p>
          <a:p>
            <a:pPr marL="514350" lvl="1" indent="0">
              <a:buClr>
                <a:schemeClr val="accent4">
                  <a:lumMod val="50000"/>
                </a:schemeClr>
              </a:buClr>
              <a:buNone/>
            </a:pPr>
            <a:endParaRPr lang="en-US" altLang="zh-TW" sz="22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05CC48B-7061-3365-1E2A-BD904A4ED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417040"/>
              </p:ext>
            </p:extLst>
          </p:nvPr>
        </p:nvGraphicFramePr>
        <p:xfrm>
          <a:off x="766647" y="2636912"/>
          <a:ext cx="7560840" cy="283174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188088758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683986011"/>
                    </a:ext>
                  </a:extLst>
                </a:gridCol>
                <a:gridCol w="4087368">
                  <a:extLst>
                    <a:ext uri="{9D8B030D-6E8A-4147-A177-3AD203B41FA5}">
                      <a16:colId xmlns:a16="http://schemas.microsoft.com/office/drawing/2014/main" val="2889938831"/>
                    </a:ext>
                  </a:extLst>
                </a:gridCol>
              </a:tblGrid>
              <a:tr h="39842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順序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工作項目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dirty="0"/>
                        <a:t>內容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092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i="1" dirty="0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a:t>完成 Ablation 實驗</a:t>
                      </a:r>
                      <a:endParaRPr lang="zh-TW" altLang="en-US" sz="1600" i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規模 × 3 模糊集 × 8 段方法，共 72 組算例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208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dirty="0"/>
                        <a:t>二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i="1" dirty="0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a:t>驗證模糊集差異</a:t>
                      </a:r>
                      <a:endParaRPr lang="zh-TW" altLang="en-US" sz="1600" i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比對三種模糊集之目標值與一階設站決策，確認 DRO 層確實影響結果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652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風險參數敏感度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掃描 CVaR 信心水準 α 與風險權重 λ，觀察設站決策保守程度之變化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646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dirty="0"/>
                        <a:t>四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台北市案例研究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大型算例上進行 α／λ 分析，並加入樣本外測試驗證解的穩健性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272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109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ECA84D-B1BC-5918-54C2-F2D459AE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論文研究時程規劃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5A16109-9DEB-F6AE-FEF0-572CE37B6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033" y="1071953"/>
            <a:ext cx="8582915" cy="1060903"/>
          </a:xfrm>
        </p:spPr>
        <p:txBody>
          <a:bodyPr/>
          <a:lstStyle/>
          <a:p>
            <a:r>
              <a:rPr lang="zh-TW" altLang="en-US" sz="1800" b="1" dirty="0"/>
              <a:t>目標：</a:t>
            </a:r>
            <a:r>
              <a:rPr lang="zh-TW" altLang="en-US" sz="1800" dirty="0"/>
              <a:t>預計於 2027 年 5～6 月進行口試</a:t>
            </a:r>
            <a:endParaRPr lang="en-US" altLang="zh-TW" sz="1800" dirty="0"/>
          </a:p>
          <a:p>
            <a:r>
              <a:rPr lang="zh-TW" altLang="en-US" sz="1800" b="1" dirty="0"/>
              <a:t>節奏：</a:t>
            </a:r>
            <a:r>
              <a:rPr lang="zh-TW" altLang="en-US" sz="1800" dirty="0"/>
              <a:t>以雙週為刻度，對齊兩週一次之進度報告</a:t>
            </a:r>
            <a:r>
              <a:rPr lang="zh-TW" altLang="en-US" sz="1800" dirty="0">
                <a:solidFill>
                  <a:srgbClr val="C00000"/>
                </a:solidFill>
              </a:rPr>
              <a:t/>
            </a:r>
            <a:r>
              <a:rPr lang="zh-TW" altLang="en-US" sz="1800" dirty="0"/>
              <a:t/>
            </a:r>
            <a:r>
              <a:rPr lang="zh-TW" altLang="en-US" sz="1800" dirty="0">
                <a:solidFill>
                  <a:srgbClr val="C00000"/>
                </a:solidFill>
              </a:rPr>
              <a:t/>
            </a:r>
            <a:r>
              <a:rPr lang="zh-TW" altLang="en-US" sz="1800" dirty="0"/>
              <a:t/>
            </a:r>
          </a:p>
          <a:p>
            <a:pPr marL="514350" lvl="1" indent="0">
              <a:buClr>
                <a:schemeClr val="accent4">
                  <a:lumMod val="50000"/>
                </a:schemeClr>
              </a:buClr>
              <a:buNone/>
            </a:pPr>
            <a:endParaRPr lang="en-US" altLang="zh-TW" sz="2200" dirty="0"/>
          </a:p>
        </p:txBody>
      </p:sp>
      <p:pic>
        <p:nvPicPr>
          <p:cNvPr id="90" name="Gantt"/>
          <p:cNvPicPr preferRelativeResize="0"/>
          <p:nvPr/>
        </p:nvPicPr>
        <p:blipFill>
          <a:blip r:embed="rId99"/>
          <a:stretch>
            <a:fillRect/>
          </a:stretch>
        </p:blipFill>
        <p:spPr>
          <a:xfrm>
            <a:off x="274319" y="2555519"/>
            <a:ext cx="8595360" cy="348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109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5E9FFE-36A5-45DC-702C-D901D6CB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有效不等式（一）：作用於模型本身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87DB6-DAD4-56FD-84D3-9B1D262E5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09" y="1124744"/>
            <a:ext cx="8582915" cy="432048"/>
          </a:xfrm>
        </p:spPr>
        <p:txBody>
          <a:bodyPr/>
          <a:lstStyle/>
          <a:p>
            <a:r>
              <a:rPr lang="zh-TW" altLang="en-US" dirty="0"/>
              <a:t>VI-1～VI-3 作用於第二階段，VI-4～VI-5 作用於第一階段</a:t>
            </a:r>
            <a:r>
              <a:rPr lang="en-US" altLang="zh-TW" dirty="0"/>
              <a:t/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9D0D0FC-4D7E-30C9-F4A3-31E4A5AA0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45208"/>
              </p:ext>
            </p:extLst>
          </p:nvPr>
        </p:nvGraphicFramePr>
        <p:xfrm>
          <a:off x="395536" y="2150000"/>
          <a:ext cx="8255986" cy="460851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38348959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803865914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3979718141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3467076613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VI｜型別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原式 → 改寫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意義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43638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VI-1｜EXACT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第二階段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(11) Σ FI ≤ c_ij·u_ijts·X_j　→　右式係數改為 min{ c_ij·u_ijts , 累積傷患數 Σξ 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原係數是道路物理容量，與當期實際可運送人數無關；改用累積傷患數收緊 big-M。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90784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100" lang="zh-TW" dirty="0"/>
                        <a:t>VI-2｜EXACT</a:t>
                      </a:r>
                      <a:endParaRPr sz="1100"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第二階段</a:t>
                      </a:r>
                      <a:endParaRPr sz="1100"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/>
                      </a:pPr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(12) Σ FO ≤ c_jh·w_jhts·X_j　→　右式係數改為 min{ c_jh·w_jhts , Σ k_jl }</a:t>
                      </a:r>
                      <a:endParaRPr sz="1100"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/>
                      </a:pPr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同理，出口道路改以 CCP 床位總量收緊，當期送出量不可能超過站內人數。</a:t>
                      </a:r>
                      <a:endParaRPr sz="1100"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38136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100" lang="zh-TW" dirty="0"/>
                        <a:t>VI-3｜EXACT</a:t>
                      </a:r>
                      <a:endParaRPr sz="1100"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第二階段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(14) 與 (26) 兩條　→　合併為一條：Σ FO ≤ min{ η·b_h , h_hts 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兩式左手邊完全相同，取較小的右界即可。每情境每期每醫院省下一條限制式。</a:t>
                      </a:r>
                      <a:endParaRPr sz="1100"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547998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100"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VI-4｜OPT</a:t>
                      </a:r>
                      <a:endParaRPr sz="1100"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第一階段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(5) V_j ≤ v̄_j·X_j　→　右式係數改為 min{ v̄_j , ⌈Σ k_jl / α_l⌉ 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醫護再多也用不完床位；上界由 104 收緊至 84（約 −19%）。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12583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100" lang="zh-TW" dirty="0"/>
                        <a:t>VI-5｜OPT</a:t>
                      </a:r>
                      <a:endParaRPr sz="1100"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第一階段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新增：X_j ≤ V_j　與　X_j ≤ Σ_h Y_hj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原式只說「沒開站不能配置」；此式反過來說「開了站就必須配置」，排除付了固定成本卻閒置的空殼站。</a:t>
                      </a:r>
                      <a:endParaRPr sz="1100"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201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550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5E9FFE-36A5-45DC-702C-D901D6CB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有效不等式（二）：作用於 Benders master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87DB6-DAD4-56FD-84D3-9B1D262E5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09" y="1124744"/>
            <a:ext cx="8582915" cy="432048"/>
          </a:xfrm>
        </p:spPr>
        <p:txBody>
          <a:bodyPr/>
          <a:lstStyle/>
          <a:p>
            <a:r>
              <a:rPr lang="zh-TW" altLang="en-US" dirty="0"/>
              <a:t>VI-6～VI-8 只出現在 Benders master</a:t>
            </a:r>
            <a:r>
              <a:rPr lang="en-US" altLang="zh-TW" dirty="0"/>
              <a:t/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9D0D0FC-4D7E-30C9-F4A3-31E4A5AA0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45208"/>
              </p:ext>
            </p:extLst>
          </p:nvPr>
        </p:nvGraphicFramePr>
        <p:xfrm>
          <a:off x="395536" y="2150000"/>
          <a:ext cx="8255986" cy="460851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38348959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803865914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3979718141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3467076613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VI｜型別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式子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意義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43638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VI-6｜RELAX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θs ≥ q̲s := Q( x̄ ; ωs )，x̄ 為第一階段變數的逐分量上界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第二階段成本對一階資源單調非增，故資源開到最大時的成本即為下界。未加切割前 master 的 LP 最佳值為 0，此式提供立即可用的非零下界。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90784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100" lang="zh-TW" dirty="0"/>
                        <a:t>VI-7｜OPT</a:t>
                      </a:r>
                      <a:endParaRPr sz="1100"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master</a:t>
                      </a:r>
                      <a:endParaRPr sz="1100"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/>
                      </a:pPr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θs ≤ q̄s := Q( 0 ; ωs ) = Σ Σ Σ ρ_l ( Σ ξ )　（閉式，不需求解）</a:t>
                      </a:r>
                      <a:endParaRPr sz="1100"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/>
                      </a:pPr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一階全不投入時，所有傷患滯留災區的罰金。與 VI-6 合成 θs 的有限區間，有利於數值穩定。</a:t>
                      </a:r>
                      <a:endParaRPr sz="1100"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38136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100" lang="zh-TW" dirty="0"/>
                        <a:t>VI-8｜RELAX</a:t>
                      </a:r>
                      <a:endParaRPr sz="1100"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十條彙總式 + θs 連結式：把第二階段限制式對 i, j, h 加總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丟掉「誰送到哪」只留總量，地圖壓成「期別 × 嚴重度」表。每情境僅多 80 個變數，卻把根節點 LP 由 0 提升到約 1,748 萬。</a:t>
                      </a:r>
                      <a:endParaRPr sz="1100"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547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550720"/>
      </p:ext>
    </p:extLst>
  </p:cSld>
  <p:clrMapOvr>
    <a:masterClrMapping/>
  </p:clrMapOvr>
</p:sld>
</file>

<file path=ppt/theme/theme1.xml><?xml version="1.0" encoding="utf-8"?>
<a:theme xmlns:a="http://schemas.openxmlformats.org/drawingml/2006/main" name="樣本一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樣本一</Template>
  <TotalTime>38968</TotalTime>
  <Words>696</Words>
  <Application>Microsoft Office PowerPoint</Application>
  <PresentationFormat>如螢幕大小 (4:3)</PresentationFormat>
  <Paragraphs>142</Paragraphs>
  <Slides>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6" baseType="lpstr">
      <vt:lpstr>微軟正黑體</vt:lpstr>
      <vt:lpstr>標楷體</vt:lpstr>
      <vt:lpstr>Arial</vt:lpstr>
      <vt:lpstr>Calibri</vt:lpstr>
      <vt:lpstr>Cambria Math</vt:lpstr>
      <vt:lpstr>Times New Roman</vt:lpstr>
      <vt:lpstr>Wingdings</vt:lpstr>
      <vt:lpstr>樣本一</vt:lpstr>
      <vt:lpstr>PowerPoint 簡報</vt:lpstr>
      <vt:lpstr>專案背景</vt:lpstr>
      <vt:lpstr>電動公車火災模擬流程</vt:lpstr>
      <vt:lpstr>電動公車火災模擬時間軸</vt:lpstr>
      <vt:lpstr>模擬最佳化流程圖</vt:lpstr>
      <vt:lpstr>模型架構與參數</vt:lpstr>
      <vt:lpstr>模型參數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Yuphin</dc:creator>
  <cp:lastModifiedBy>蕭禮英</cp:lastModifiedBy>
  <cp:revision>3004</cp:revision>
  <cp:lastPrinted>2015-10-22T10:48:13Z</cp:lastPrinted>
  <dcterms:created xsi:type="dcterms:W3CDTF">2013-03-13T13:05:42Z</dcterms:created>
  <dcterms:modified xsi:type="dcterms:W3CDTF">2025-10-14T03:27:56Z</dcterms:modified>
</cp:coreProperties>
</file>