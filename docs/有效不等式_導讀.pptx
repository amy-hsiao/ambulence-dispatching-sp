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2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37160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5FC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救護車調度與損壞道路修復決策　·　SP + MCVaR + DRO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1700784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有效不等式的數學式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02920" y="257860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3CCD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已寫進 model core/valid_inequalities.py 的每一族：式子、正確性、意義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02920" y="3255264"/>
            <a:ext cx="1463040" cy="0"/>
          </a:xfrm>
          <a:prstGeom prst="line">
            <a:avLst/>
          </a:prstGeom>
          <a:noFill/>
          <a:ln w="12700">
            <a:solidFill>
              <a:srgbClr val="3E4A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438144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8794A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[EXACT]　等價重構，不切掉任何可行解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8794A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[OPT]　　 可能切掉被支配的解，保證保留至少一個最佳解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8794A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[RELAX]　 對原問題所有可行解恆成立的鬆弛下界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B6E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符號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22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記號約定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3931920" cy="3401568"/>
          </a:xfrm>
          <a:prstGeom prst="rect">
            <a:avLst/>
          </a:prstGeom>
          <a:solidFill>
            <a:srgbClr val="F2F4F4"/>
          </a:solidFill>
          <a:ln w="12700">
            <a:solidFill>
              <a:srgbClr val="F2F4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88720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集合與變數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58952" y="1426464"/>
            <a:ext cx="341985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8000"/>
              </a:lnSpc>
              <a:buNone/>
            </a:pPr>
            <a:r>
              <a:rPr lang="en-US" sz="110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i∈I 災區　 j∈J 候選 CCP　 h∈H 醫院</a:t>
            </a:r>
            <a:endParaRPr lang="en-US" sz="110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10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l∈L 嚴重度　 L</a:t>
            </a:r>
            <a:pPr indent="0" marL="0">
              <a:lnSpc>
                <a:spcPct val="138000"/>
              </a:lnSpc>
              <a:buNone/>
            </a:pPr>
            <a:r>
              <a:rPr lang="en-US" sz="1100" baseline="-4000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</a:t>
            </a:r>
            <a:pPr indent="0" marL="0">
              <a:lnSpc>
                <a:spcPct val="138000"/>
              </a:lnSpc>
              <a:buNone/>
            </a:pPr>
            <a:r>
              <a:rPr lang="en-US" sz="110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⊆L 需後送</a:t>
            </a:r>
            <a:endParaRPr lang="en-US" sz="110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10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t∈T 期別　 s∈S 情境</a:t>
            </a:r>
            <a:endParaRPr lang="en-US" sz="110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10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indent="0" marL="0">
              <a:lnSpc>
                <a:spcPct val="138000"/>
              </a:lnSpc>
              <a:buNone/>
            </a:pPr>
            <a:r>
              <a:rPr lang="en-US" sz="1100" baseline="-4000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pPr indent="0" marL="0">
              <a:lnSpc>
                <a:spcPct val="138000"/>
              </a:lnSpc>
              <a:buNone/>
            </a:pPr>
            <a:r>
              <a:rPr lang="en-US" sz="110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∈{0,1}，V</a:t>
            </a:r>
            <a:pPr indent="0" marL="0">
              <a:lnSpc>
                <a:spcPct val="138000"/>
              </a:lnSpc>
              <a:buNone/>
            </a:pPr>
            <a:r>
              <a:rPr lang="en-US" sz="1100" baseline="-4000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pPr indent="0" marL="0">
              <a:lnSpc>
                <a:spcPct val="138000"/>
              </a:lnSpc>
              <a:buNone/>
            </a:pPr>
            <a:r>
              <a:rPr lang="en-US" sz="110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,U</a:t>
            </a:r>
            <a:pPr indent="0" marL="0">
              <a:lnSpc>
                <a:spcPct val="138000"/>
              </a:lnSpc>
              <a:buNone/>
            </a:pPr>
            <a:r>
              <a:rPr lang="en-US" sz="1100" baseline="-4000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pPr indent="0" marL="0">
              <a:lnSpc>
                <a:spcPct val="138000"/>
              </a:lnSpc>
              <a:buNone/>
            </a:pPr>
            <a:r>
              <a:rPr lang="en-US" sz="110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,Y</a:t>
            </a:r>
            <a:pPr indent="0" marL="0">
              <a:lnSpc>
                <a:spcPct val="138000"/>
              </a:lnSpc>
              <a:buNone/>
            </a:pPr>
            <a:r>
              <a:rPr lang="en-US" sz="1100" baseline="-4000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hj</a:t>
            </a:r>
            <a:pPr indent="0" marL="0">
              <a:lnSpc>
                <a:spcPct val="138000"/>
              </a:lnSpc>
              <a:buNone/>
            </a:pPr>
            <a:r>
              <a:rPr lang="en-US" sz="110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∈ℤ₊　（一階）</a:t>
            </a:r>
            <a:endParaRPr lang="en-US" sz="110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10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</a:t>
            </a:r>
            <a:pPr indent="0" marL="0">
              <a:lnSpc>
                <a:spcPct val="138000"/>
              </a:lnSpc>
              <a:buNone/>
            </a:pPr>
            <a:r>
              <a:rPr lang="en-US" sz="1100" baseline="-4000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sijlt</a:t>
            </a:r>
            <a:pPr indent="0" marL="0">
              <a:lnSpc>
                <a:spcPct val="138000"/>
              </a:lnSpc>
              <a:buNone/>
            </a:pPr>
            <a:r>
              <a:rPr lang="en-US" sz="110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災區→CCP　 FO</a:t>
            </a:r>
            <a:pPr indent="0" marL="0">
              <a:lnSpc>
                <a:spcPct val="138000"/>
              </a:lnSpc>
              <a:buNone/>
            </a:pPr>
            <a:r>
              <a:rPr lang="en-US" sz="1100" baseline="-4000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sjhlt</a:t>
            </a:r>
            <a:pPr indent="0" marL="0">
              <a:lnSpc>
                <a:spcPct val="138000"/>
              </a:lnSpc>
              <a:buNone/>
            </a:pPr>
            <a:r>
              <a:rPr lang="en-US" sz="110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CCP→醫院</a:t>
            </a:r>
            <a:endParaRPr lang="en-US" sz="110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10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RM</a:t>
            </a:r>
            <a:pPr indent="0" marL="0">
              <a:lnSpc>
                <a:spcPct val="138000"/>
              </a:lnSpc>
              <a:buNone/>
            </a:pPr>
            <a:r>
              <a:rPr lang="en-US" sz="1100" baseline="-4000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silt</a:t>
            </a:r>
            <a:pPr indent="0" marL="0">
              <a:lnSpc>
                <a:spcPct val="138000"/>
              </a:lnSpc>
              <a:buNone/>
            </a:pPr>
            <a:r>
              <a:rPr lang="en-US" sz="110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災區滯留　 REG</a:t>
            </a:r>
            <a:pPr indent="0" marL="0">
              <a:lnSpc>
                <a:spcPct val="138000"/>
              </a:lnSpc>
              <a:buNone/>
            </a:pPr>
            <a:r>
              <a:rPr lang="en-US" sz="1100" baseline="-4000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sjlt</a:t>
            </a:r>
            <a:pPr indent="0" marL="0">
              <a:lnSpc>
                <a:spcPct val="138000"/>
              </a:lnSpc>
              <a:buNone/>
            </a:pPr>
            <a:r>
              <a:rPr lang="en-US" sz="110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報到</a:t>
            </a:r>
            <a:endParaRPr lang="en-US" sz="110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10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TRT</a:t>
            </a:r>
            <a:pPr indent="0" marL="0">
              <a:lnSpc>
                <a:spcPct val="138000"/>
              </a:lnSpc>
              <a:buNone/>
            </a:pPr>
            <a:r>
              <a:rPr lang="en-US" sz="1100" baseline="-4000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sjlt</a:t>
            </a:r>
            <a:pPr indent="0" marL="0">
              <a:lnSpc>
                <a:spcPct val="138000"/>
              </a:lnSpc>
              <a:buNone/>
            </a:pPr>
            <a:r>
              <a:rPr lang="en-US" sz="110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治療中　 WAT</a:t>
            </a:r>
            <a:pPr indent="0" marL="0">
              <a:lnSpc>
                <a:spcPct val="138000"/>
              </a:lnSpc>
              <a:buNone/>
            </a:pPr>
            <a:r>
              <a:rPr lang="en-US" sz="1100" baseline="-4000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sjlt</a:t>
            </a:r>
            <a:pPr indent="0" marL="0">
              <a:lnSpc>
                <a:spcPct val="138000"/>
              </a:lnSpc>
              <a:buNone/>
            </a:pPr>
            <a:r>
              <a:rPr lang="en-US" sz="110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等待轉送</a:t>
            </a:r>
            <a:endParaRPr lang="en-US" sz="110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10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θ</a:t>
            </a:r>
            <a:pPr indent="0" marL="0">
              <a:lnSpc>
                <a:spcPct val="138000"/>
              </a:lnSpc>
              <a:buNone/>
            </a:pPr>
            <a:r>
              <a:rPr lang="en-US" sz="1100" baseline="-4000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indent="0" marL="0">
              <a:lnSpc>
                <a:spcPct val="138000"/>
              </a:lnSpc>
              <a:buNone/>
            </a:pPr>
            <a:r>
              <a:rPr lang="en-US" sz="110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第二階段成本 Q</a:t>
            </a:r>
            <a:pPr indent="0" marL="0">
              <a:lnSpc>
                <a:spcPct val="138000"/>
              </a:lnSpc>
              <a:buNone/>
            </a:pPr>
            <a:r>
              <a:rPr lang="en-US" sz="1100" baseline="-4000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indent="0" marL="0">
              <a:lnSpc>
                <a:spcPct val="138000"/>
              </a:lnSpc>
              <a:buNone/>
            </a:pPr>
            <a:r>
              <a:rPr lang="en-US" sz="110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(x) 的代理變數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1078992"/>
            <a:ext cx="3931920" cy="3401568"/>
          </a:xfrm>
          <a:prstGeom prst="rect">
            <a:avLst/>
          </a:prstGeom>
          <a:solidFill>
            <a:srgbClr val="F2F4F4"/>
          </a:solidFill>
          <a:ln w="12700">
            <a:solidFill>
              <a:srgbClr val="F2F4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9160" y="118872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參數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965192" y="1426464"/>
            <a:ext cx="341985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</a:t>
            </a:r>
            <a:pPr indent="0" marL="0">
              <a:lnSpc>
                <a:spcPct val="142000"/>
              </a:lnSpc>
              <a:buNone/>
            </a:pPr>
            <a:r>
              <a:rPr lang="en-US" sz="1150" baseline="3000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indent="0" marL="0">
              <a:lnSpc>
                <a:spcPct val="142000"/>
              </a:lnSpc>
              <a:buNone/>
            </a:pPr>
            <a:r>
              <a:rPr lang="en-US" sz="1150" baseline="-4000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ilt</a:t>
            </a:r>
            <a:pPr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需求　 ρ</a:t>
            </a:r>
            <a:pPr indent="0" marL="0">
              <a:lnSpc>
                <a:spcPct val="142000"/>
              </a:lnSpc>
              <a:buNone/>
            </a:pPr>
            <a:r>
              <a:rPr lang="en-US" sz="1150" baseline="3000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indent="0" marL="0">
              <a:lnSpc>
                <a:spcPct val="142000"/>
              </a:lnSpc>
              <a:buNone/>
            </a:pPr>
            <a:r>
              <a:rPr lang="en-US" sz="1150" baseline="-4000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ijt</a:t>
            </a:r>
            <a:pPr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道路可用率　 cap</a:t>
            </a:r>
            <a:pPr indent="0" marL="0">
              <a:lnSpc>
                <a:spcPct val="142000"/>
              </a:lnSpc>
              <a:buNone/>
            </a:pPr>
            <a:r>
              <a:rPr lang="en-US" sz="1150" baseline="-4000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ij</a:t>
            </a:r>
            <a:pPr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道路容量</a:t>
            </a:r>
            <a:endParaRPr lang="en-US" sz="11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</a:t>
            </a:r>
            <a:pPr indent="0" marL="0">
              <a:lnSpc>
                <a:spcPct val="142000"/>
              </a:lnSpc>
              <a:buNone/>
            </a:pPr>
            <a:r>
              <a:rPr lang="en-US" sz="1150" baseline="-4000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</a:t>
            </a:r>
            <a:pPr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CCP 實體容量　 τ</a:t>
            </a:r>
            <a:pPr indent="0" marL="0">
              <a:lnSpc>
                <a:spcPct val="142000"/>
              </a:lnSpc>
              <a:buNone/>
            </a:pPr>
            <a:r>
              <a:rPr lang="en-US" sz="1150" baseline="-4000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</a:t>
            </a:r>
            <a:pPr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治療期數</a:t>
            </a:r>
            <a:endParaRPr lang="en-US" sz="11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σ</a:t>
            </a:r>
            <a:pPr indent="0" marL="0">
              <a:lnSpc>
                <a:spcPct val="142000"/>
              </a:lnSpc>
              <a:buNone/>
            </a:pPr>
            <a:r>
              <a:rPr lang="en-US" sz="1150" baseline="-4000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</a:t>
            </a:r>
            <a:pPr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醫護處理率　 c</a:t>
            </a:r>
            <a:pPr indent="0" marL="0">
              <a:lnSpc>
                <a:spcPct val="142000"/>
              </a:lnSpc>
              <a:buNone/>
            </a:pPr>
            <a:r>
              <a:rPr lang="en-US" sz="1150" baseline="-4000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</a:t>
            </a:r>
            <a:pPr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物資消耗</a:t>
            </a:r>
            <a:endParaRPr lang="en-US" sz="11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π</a:t>
            </a:r>
            <a:pPr indent="0" marL="0">
              <a:lnSpc>
                <a:spcPct val="142000"/>
              </a:lnSpc>
              <a:buNone/>
            </a:pPr>
            <a:r>
              <a:rPr lang="en-US" sz="1150" baseline="-4000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</a:t>
            </a:r>
            <a:pPr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滯留罰金　 w</a:t>
            </a:r>
            <a:pPr indent="0" marL="0">
              <a:lnSpc>
                <a:spcPct val="142000"/>
              </a:lnSpc>
              <a:buNone/>
            </a:pPr>
            <a:r>
              <a:rPr lang="en-US" sz="1150" baseline="-4000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</a:t>
            </a:r>
            <a:pPr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等待罰金　 f</a:t>
            </a:r>
            <a:pPr indent="0" marL="0">
              <a:lnSpc>
                <a:spcPct val="142000"/>
              </a:lnSpc>
              <a:buNone/>
            </a:pPr>
            <a:r>
              <a:rPr lang="en-US" sz="1150" baseline="-4000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pPr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開設成本</a:t>
            </a:r>
            <a:endParaRPr lang="en-US" sz="11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κ</a:t>
            </a:r>
            <a:pPr indent="0" marL="0">
              <a:lnSpc>
                <a:spcPct val="142000"/>
              </a:lnSpc>
              <a:buNone/>
            </a:pPr>
            <a:r>
              <a:rPr lang="en-US" sz="1150" baseline="3000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pPr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CCP 單車容量　 κ</a:t>
            </a:r>
            <a:pPr indent="0" marL="0">
              <a:lnSpc>
                <a:spcPct val="142000"/>
              </a:lnSpc>
              <a:buNone/>
            </a:pPr>
            <a:r>
              <a:rPr lang="en-US" sz="1150" baseline="3000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醫院單車容量</a:t>
            </a:r>
            <a:endParaRPr lang="en-US" sz="11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</a:t>
            </a:r>
            <a:pPr indent="0" marL="0">
              <a:lnSpc>
                <a:spcPct val="142000"/>
              </a:lnSpc>
              <a:buNone/>
            </a:pPr>
            <a:r>
              <a:rPr lang="en-US" sz="1150" baseline="-4000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醫院車隊　 ĥ</a:t>
            </a:r>
            <a:pPr indent="0" marL="0">
              <a:lnSpc>
                <a:spcPct val="142000"/>
              </a:lnSpc>
              <a:buNone/>
            </a:pPr>
            <a:r>
              <a:rPr lang="en-US" sz="1150" baseline="3000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indent="0" marL="0">
              <a:lnSpc>
                <a:spcPct val="142000"/>
              </a:lnSpc>
              <a:buNone/>
            </a:pPr>
            <a:r>
              <a:rPr lang="en-US" sz="1150" baseline="-4000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ht</a:t>
            </a:r>
            <a:pPr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醫院收治量</a:t>
            </a:r>
            <a:endParaRPr lang="en-US" sz="11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v̄</a:t>
            </a:r>
            <a:pPr indent="0" marL="0">
              <a:lnSpc>
                <a:spcPct val="142000"/>
              </a:lnSpc>
              <a:buNone/>
            </a:pPr>
            <a:r>
              <a:rPr lang="en-US" sz="1150" baseline="-4000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pPr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ū</a:t>
            </a:r>
            <a:pPr indent="0" marL="0">
              <a:lnSpc>
                <a:spcPct val="142000"/>
              </a:lnSpc>
              <a:buNone/>
            </a:pPr>
            <a:r>
              <a:rPr lang="en-US" sz="1150" baseline="-4000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pPr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ȳ</a:t>
            </a:r>
            <a:pPr indent="0" marL="0">
              <a:lnSpc>
                <a:spcPct val="142000"/>
              </a:lnSpc>
              <a:buNone/>
            </a:pPr>
            <a:r>
              <a:rPr lang="en-US" sz="1150" baseline="-4000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pPr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單站上限　 V̄, Ū 資源池　 Ȳ</a:t>
            </a:r>
            <a:pPr indent="0" marL="0">
              <a:lnSpc>
                <a:spcPct val="142000"/>
              </a:lnSpc>
              <a:buNone/>
            </a:pPr>
            <a:r>
              <a:rPr lang="en-US" sz="1150" baseline="-4000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醫院物資</a:t>
            </a:r>
            <a:endParaRPr lang="en-US" sz="11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Ď</a:t>
            </a:r>
            <a:pPr indent="0" marL="0">
              <a:lnSpc>
                <a:spcPct val="142000"/>
              </a:lnSpc>
              <a:buNone/>
            </a:pPr>
            <a:r>
              <a:rPr lang="en-US" sz="1150" baseline="3000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indent="0" marL="0">
              <a:lnSpc>
                <a:spcPct val="142000"/>
              </a:lnSpc>
              <a:buNone/>
            </a:pPr>
            <a:r>
              <a:rPr lang="en-US" sz="1150" baseline="-4000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ilt</a:t>
            </a:r>
            <a:pPr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Σ</a:t>
            </a:r>
            <a:pPr indent="0" marL="0">
              <a:lnSpc>
                <a:spcPct val="142000"/>
              </a:lnSpc>
              <a:buNone/>
            </a:pPr>
            <a:r>
              <a:rPr lang="en-US" sz="1150" baseline="-4000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r≤t</a:t>
            </a:r>
            <a:pPr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d</a:t>
            </a:r>
            <a:pPr indent="0" marL="0">
              <a:lnSpc>
                <a:spcPct val="142000"/>
              </a:lnSpc>
              <a:buNone/>
            </a:pPr>
            <a:r>
              <a:rPr lang="en-US" sz="1150" baseline="3000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indent="0" marL="0">
              <a:lnSpc>
                <a:spcPct val="142000"/>
              </a:lnSpc>
              <a:buNone/>
            </a:pPr>
            <a:r>
              <a:rPr lang="en-US" sz="1150" baseline="-4000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ilr</a:t>
            </a:r>
            <a:pPr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　累積需求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183880" y="473659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B6E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總覽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22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寫進程式的八族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97280"/>
          <a:ext cx="813816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3977640"/>
                <a:gridCol w="1188720"/>
                <a:gridCol w="201168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B45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族別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B45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核心式子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B45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類型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B45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開關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45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VI-0(a)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45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Σ FI ≤ min{cap·ρ, Ď} · X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45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EXACT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6E6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預設開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45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VI-0(b)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45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Σ FO ≤ min{cap·ρ, Σ P} · X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45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EXACT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6E6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預設開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45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VI-0(c)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45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 ≤ min{v̄, ⌈Σ P/σ⌉} · X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45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OPT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6E6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預設開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45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VI-11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45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Σ FO ≤ min{κ·m, ĥ}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45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EXACT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6E6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無條件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45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VI-1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45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θ ≥ Q(x̄)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45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RELAX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6E6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預設開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45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VI-2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45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θ ≤ Q(0)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45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OPT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6E6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預設開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45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VI-9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45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min Q(x̄) ≤ φ ≤ max Q(0)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45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OPT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6E6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跟著 1+2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45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VI-7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45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θ ≥ 彙總鬆弛的最佳值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45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RELAX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6E6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預設開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45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VI-10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45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X ≤ V,  X ≤ Σ Y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45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OPT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6E6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預設開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45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VI-3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45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θ ≥ Λ(N₀) − Γ(N₀)·Σ X    （切線）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45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RELAX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A530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已寫，關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45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VI-8′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45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Σ Y[h(k)] ≥ Σ Y[h(k+1)]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45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OPT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A530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已寫，關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53542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下面每一頁：原式 → 改成什麼 / 加了什麼 → 為什麼有效 → 意義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183880" y="473659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B6E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VI-0(a)</a:t>
            </a:r>
            <a:pPr indent="0" marL="0">
              <a:buNone/>
            </a:pPr>
            <a:r>
              <a:rPr lang="en-US" sz="105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·　"bigm"</a:t>
            </a:r>
            <a:pPr indent="0" marL="0">
              <a:buNone/>
            </a:pPr>
            <a:r>
              <a:rPr lang="en-US" sz="1000" b="1" dirty="0">
                <a:solidFill>
                  <a:srgbClr val="0B6E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·　[EXACT]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22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道路容量 i → j 的 big-M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42416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原式　RoadCap_IJ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243584"/>
            <a:ext cx="8138160" cy="548640"/>
          </a:xfrm>
          <a:prstGeom prst="rect">
            <a:avLst/>
          </a:prstGeom>
          <a:solidFill>
            <a:srgbClr val="F2F4F4"/>
          </a:solidFill>
          <a:ln w="12700">
            <a:solidFill>
              <a:srgbClr val="F2F4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380744"/>
            <a:ext cx="7626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Σ</a:t>
            </a:r>
            <a:pPr indent="0" marL="0">
              <a:lnSpc>
                <a:spcPct val="150000"/>
              </a:lnSpc>
              <a:buNone/>
            </a:pPr>
            <a:r>
              <a:rPr lang="en-US" sz="1250" baseline="-400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l∈L</a:t>
            </a:r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FI</a:t>
            </a:r>
            <a:pPr indent="0" marL="0">
              <a:lnSpc>
                <a:spcPct val="150000"/>
              </a:lnSpc>
              <a:buNone/>
            </a:pPr>
            <a:r>
              <a:rPr lang="en-US" sz="1250" baseline="-400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sijlt</a:t>
            </a:r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　≤　cap</a:t>
            </a:r>
            <a:pPr indent="0" marL="0">
              <a:lnSpc>
                <a:spcPct val="150000"/>
              </a:lnSpc>
              <a:buNone/>
            </a:pPr>
            <a:r>
              <a:rPr lang="en-US" sz="1250" baseline="-400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ij</a:t>
            </a:r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· ρ</a:t>
            </a:r>
            <a:pPr indent="0" marL="0">
              <a:lnSpc>
                <a:spcPct val="150000"/>
              </a:lnSpc>
              <a:buNone/>
            </a:pPr>
            <a:r>
              <a:rPr lang="en-US" sz="1250" baseline="300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indent="0" marL="0">
              <a:lnSpc>
                <a:spcPct val="150000"/>
              </a:lnSpc>
              <a:buNone/>
            </a:pPr>
            <a:r>
              <a:rPr lang="en-US" sz="1250" baseline="-400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ijt</a:t>
            </a:r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· X</a:t>
            </a:r>
            <a:pPr indent="0" marL="0">
              <a:lnSpc>
                <a:spcPct val="150000"/>
              </a:lnSpc>
              <a:buNone/>
            </a:pPr>
            <a:r>
              <a:rPr lang="en-US" sz="1250" baseline="-400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　　∀s,i,j,t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1883664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6E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改為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2084832"/>
            <a:ext cx="8138160" cy="914400"/>
          </a:xfrm>
          <a:prstGeom prst="rect">
            <a:avLst/>
          </a:prstGeom>
          <a:solidFill>
            <a:srgbClr val="E7F1EF"/>
          </a:solidFill>
          <a:ln w="12700">
            <a:solidFill>
              <a:srgbClr val="E7F1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2221992"/>
            <a:ext cx="76260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Σ</a:t>
            </a:r>
            <a:pPr indent="0" marL="0">
              <a:lnSpc>
                <a:spcPct val="150000"/>
              </a:lnSpc>
              <a:buNone/>
            </a:pPr>
            <a:r>
              <a:rPr lang="en-US" sz="125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l∈L</a:t>
            </a:r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FI</a:t>
            </a:r>
            <a:pPr indent="0" marL="0">
              <a:lnSpc>
                <a:spcPct val="150000"/>
              </a:lnSpc>
              <a:buNone/>
            </a:pPr>
            <a:r>
              <a:rPr lang="en-US" sz="125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sijlt</a:t>
            </a:r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　≤　min{ cap</a:t>
            </a:r>
            <a:pPr indent="0" marL="0">
              <a:lnSpc>
                <a:spcPct val="150000"/>
              </a:lnSpc>
              <a:buNone/>
            </a:pPr>
            <a:r>
              <a:rPr lang="en-US" sz="125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ij</a:t>
            </a:r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· ρ</a:t>
            </a:r>
            <a:pPr indent="0" marL="0">
              <a:lnSpc>
                <a:spcPct val="150000"/>
              </a:lnSpc>
              <a:buNone/>
            </a:pPr>
            <a:r>
              <a:rPr lang="en-US" sz="1250" baseline="3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indent="0" marL="0">
              <a:lnSpc>
                <a:spcPct val="150000"/>
              </a:lnSpc>
              <a:buNone/>
            </a:pPr>
            <a:r>
              <a:rPr lang="en-US" sz="125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ijt</a:t>
            </a:r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,　Ď</a:t>
            </a:r>
            <a:pPr indent="0" marL="0">
              <a:lnSpc>
                <a:spcPct val="150000"/>
              </a:lnSpc>
              <a:buNone/>
            </a:pPr>
            <a:r>
              <a:rPr lang="en-US" sz="1250" baseline="3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indent="0" marL="0">
              <a:lnSpc>
                <a:spcPct val="150000"/>
              </a:lnSpc>
              <a:buNone/>
            </a:pPr>
            <a:r>
              <a:rPr lang="en-US" sz="125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</a:t>
            </a:r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} · X</a:t>
            </a:r>
            <a:pPr indent="0" marL="0">
              <a:lnSpc>
                <a:spcPct val="150000"/>
              </a:lnSpc>
              <a:buNone/>
            </a:pPr>
            <a:r>
              <a:rPr lang="en-US" sz="125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其中　Ď</a:t>
            </a:r>
            <a:pPr indent="0" marL="0">
              <a:lnSpc>
                <a:spcPct val="150000"/>
              </a:lnSpc>
              <a:buNone/>
            </a:pPr>
            <a:r>
              <a:rPr lang="en-US" sz="1250" baseline="3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indent="0" marL="0">
              <a:lnSpc>
                <a:spcPct val="150000"/>
              </a:lnSpc>
              <a:buNone/>
            </a:pPr>
            <a:r>
              <a:rPr lang="en-US" sz="125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</a:t>
            </a:r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Σ</a:t>
            </a:r>
            <a:pPr indent="0" marL="0">
              <a:lnSpc>
                <a:spcPct val="150000"/>
              </a:lnSpc>
              <a:buNone/>
            </a:pPr>
            <a:r>
              <a:rPr lang="en-US" sz="125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r≤t</a:t>
            </a:r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Σ</a:t>
            </a:r>
            <a:pPr indent="0" marL="0">
              <a:lnSpc>
                <a:spcPct val="150000"/>
              </a:lnSpc>
              <a:buNone/>
            </a:pPr>
            <a:r>
              <a:rPr lang="en-US" sz="125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l∈L</a:t>
            </a:r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d</a:t>
            </a:r>
            <a:pPr indent="0" marL="0">
              <a:lnSpc>
                <a:spcPct val="150000"/>
              </a:lnSpc>
              <a:buNone/>
            </a:pPr>
            <a:r>
              <a:rPr lang="en-US" sz="1250" baseline="3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indent="0" marL="0">
              <a:lnSpc>
                <a:spcPct val="150000"/>
              </a:lnSpc>
              <a:buNone/>
            </a:pPr>
            <a:r>
              <a:rPr lang="en-US" sz="125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ilr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3090672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為什麼有效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3291840"/>
            <a:ext cx="8138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由 Flow_RM 遞迴展開並利用 RM ≥ 0：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RM</a:t>
            </a:r>
            <a:pPr indent="0" marL="0">
              <a:lnSpc>
                <a:spcPct val="132000"/>
              </a:lnSpc>
              <a:buNone/>
            </a:pPr>
            <a:r>
              <a:rPr lang="en-US" sz="1150" baseline="-4000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silt</a:t>
            </a:r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Ď</a:t>
            </a:r>
            <a:pPr indent="0" marL="0">
              <a:lnSpc>
                <a:spcPct val="132000"/>
              </a:lnSpc>
              <a:buNone/>
            </a:pPr>
            <a:r>
              <a:rPr lang="en-US" sz="1150" baseline="3000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</a:t>
            </a:r>
            <a:pPr indent="0" marL="0">
              <a:lnSpc>
                <a:spcPct val="132000"/>
              </a:lnSpc>
              <a:buNone/>
            </a:pPr>
            <a:r>
              <a:rPr lang="en-US" sz="1150" baseline="-4000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ilt</a:t>
            </a:r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− Σ</a:t>
            </a:r>
            <a:pPr indent="0" marL="0">
              <a:lnSpc>
                <a:spcPct val="132000"/>
              </a:lnSpc>
              <a:buNone/>
            </a:pPr>
            <a:r>
              <a:rPr lang="en-US" sz="1150" baseline="-4000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r≤t</a:t>
            </a:r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Σ</a:t>
            </a:r>
            <a:pPr indent="0" marL="0">
              <a:lnSpc>
                <a:spcPct val="132000"/>
              </a:lnSpc>
              <a:buNone/>
            </a:pPr>
            <a:r>
              <a:rPr lang="en-US" sz="1150" baseline="-4000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</a:t>
            </a:r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FI</a:t>
            </a:r>
            <a:pPr indent="0" marL="0">
              <a:lnSpc>
                <a:spcPct val="132000"/>
              </a:lnSpc>
              <a:buNone/>
            </a:pPr>
            <a:r>
              <a:rPr lang="en-US" sz="1150" baseline="-4000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sijlr</a:t>
            </a:r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≥ 0　⟹　Σ</a:t>
            </a:r>
            <a:pPr indent="0" marL="0">
              <a:lnSpc>
                <a:spcPct val="132000"/>
              </a:lnSpc>
              <a:buNone/>
            </a:pPr>
            <a:r>
              <a:rPr lang="en-US" sz="1150" baseline="-4000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r≤t</a:t>
            </a:r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Σ</a:t>
            </a:r>
            <a:pPr indent="0" marL="0">
              <a:lnSpc>
                <a:spcPct val="132000"/>
              </a:lnSpc>
              <a:buNone/>
            </a:pPr>
            <a:r>
              <a:rPr lang="en-US" sz="1150" baseline="-4000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</a:t>
            </a:r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FI</a:t>
            </a:r>
            <a:pPr indent="0" marL="0">
              <a:lnSpc>
                <a:spcPct val="132000"/>
              </a:lnSpc>
              <a:buNone/>
            </a:pPr>
            <a:r>
              <a:rPr lang="en-US" sz="1150" baseline="-4000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sijlr</a:t>
            </a:r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≤ Ď</a:t>
            </a:r>
            <a:pPr indent="0" marL="0">
              <a:lnSpc>
                <a:spcPct val="132000"/>
              </a:lnSpc>
              <a:buNone/>
            </a:pPr>
            <a:r>
              <a:rPr lang="en-US" sz="1150" baseline="3000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</a:t>
            </a:r>
            <a:pPr indent="0" marL="0">
              <a:lnSpc>
                <a:spcPct val="132000"/>
              </a:lnSpc>
              <a:buNone/>
            </a:pPr>
            <a:r>
              <a:rPr lang="en-US" sz="1150" baseline="-4000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ilt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取單一期、單一 j 並對 l 加總即得 Σ</a:t>
            </a:r>
            <a:pPr indent="0" marL="0">
              <a:lnSpc>
                <a:spcPct val="132000"/>
              </a:lnSpc>
              <a:buNone/>
            </a:pPr>
            <a:r>
              <a:rPr lang="en-US" sz="1150" baseline="-4000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</a:t>
            </a:r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FI</a:t>
            </a:r>
            <a:pPr indent="0" marL="0">
              <a:lnSpc>
                <a:spcPct val="132000"/>
              </a:lnSpc>
              <a:buNone/>
            </a:pPr>
            <a:r>
              <a:rPr lang="en-US" sz="1150" baseline="-4000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sijlt</a:t>
            </a:r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≤ Ď</a:t>
            </a:r>
            <a:pPr indent="0" marL="0">
              <a:lnSpc>
                <a:spcPct val="132000"/>
              </a:lnSpc>
              <a:buNone/>
            </a:pPr>
            <a:r>
              <a:rPr lang="en-US" sz="1150" baseline="3000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</a:t>
            </a:r>
            <a:pPr indent="0" marL="0">
              <a:lnSpc>
                <a:spcPct val="132000"/>
              </a:lnSpc>
              <a:buNone/>
            </a:pPr>
            <a:r>
              <a:rPr lang="en-US" sz="1150" baseline="-4000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it</a:t>
            </a:r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。不切掉任何可行解。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4187952"/>
            <a:ext cx="8138160" cy="566928"/>
          </a:xfrm>
          <a:prstGeom prst="rect">
            <a:avLst/>
          </a:prstGeom>
          <a:solidFill>
            <a:srgbClr val="F2F4F4"/>
          </a:solidFill>
          <a:ln w="12700">
            <a:solidFill>
              <a:srgbClr val="F2F4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" y="4187952"/>
            <a:ext cx="7626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B6E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意義　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C222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1 期 M 由 16 收緊到 3（5.3 倍）。原式讓 LP 用 X</a:t>
            </a:r>
            <a:pPr indent="0" marL="0">
              <a:lnSpc>
                <a:spcPct val="120000"/>
              </a:lnSpc>
              <a:buNone/>
            </a:pPr>
            <a:r>
              <a:rPr lang="en-US" sz="1150" baseline="-40000" dirty="0">
                <a:solidFill>
                  <a:srgbClr val="1C222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C222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0.19 承載整期流量，收緊後需要 X</a:t>
            </a:r>
            <a:pPr indent="0" marL="0">
              <a:lnSpc>
                <a:spcPct val="120000"/>
              </a:lnSpc>
              <a:buNone/>
            </a:pPr>
            <a:r>
              <a:rPr lang="en-US" sz="1150" baseline="-40000" dirty="0">
                <a:solidFill>
                  <a:srgbClr val="1C222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C222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1.0。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183880" y="473659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B6E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VI-0(b)</a:t>
            </a:r>
            <a:pPr indent="0" marL="0">
              <a:buNone/>
            </a:pPr>
            <a:r>
              <a:rPr lang="en-US" sz="105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·　"bigm"</a:t>
            </a:r>
            <a:pPr indent="0" marL="0">
              <a:buNone/>
            </a:pPr>
            <a:r>
              <a:rPr lang="en-US" sz="1000" b="1" dirty="0">
                <a:solidFill>
                  <a:srgbClr val="0B6E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·　[EXACT]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22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道路容量 j → h 的 big-M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42416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原式　RoadCap_JH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243584"/>
            <a:ext cx="8138160" cy="548640"/>
          </a:xfrm>
          <a:prstGeom prst="rect">
            <a:avLst/>
          </a:prstGeom>
          <a:solidFill>
            <a:srgbClr val="F2F4F4"/>
          </a:solidFill>
          <a:ln w="12700">
            <a:solidFill>
              <a:srgbClr val="F2F4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380744"/>
            <a:ext cx="7626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Σ</a:t>
            </a:r>
            <a:pPr indent="0" marL="0">
              <a:lnSpc>
                <a:spcPct val="150000"/>
              </a:lnSpc>
              <a:buNone/>
            </a:pPr>
            <a:r>
              <a:rPr lang="en-US" sz="1250" baseline="-400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l∈Ltr</a:t>
            </a:r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FO</a:t>
            </a:r>
            <a:pPr indent="0" marL="0">
              <a:lnSpc>
                <a:spcPct val="150000"/>
              </a:lnSpc>
              <a:buNone/>
            </a:pPr>
            <a:r>
              <a:rPr lang="en-US" sz="1250" baseline="-400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sjhlt</a:t>
            </a:r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　≤　cap</a:t>
            </a:r>
            <a:pPr indent="0" marL="0">
              <a:lnSpc>
                <a:spcPct val="150000"/>
              </a:lnSpc>
              <a:buNone/>
            </a:pPr>
            <a:r>
              <a:rPr lang="en-US" sz="1250" baseline="-400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jh</a:t>
            </a:r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· ρ</a:t>
            </a:r>
            <a:pPr indent="0" marL="0">
              <a:lnSpc>
                <a:spcPct val="150000"/>
              </a:lnSpc>
              <a:buNone/>
            </a:pPr>
            <a:r>
              <a:rPr lang="en-US" sz="1250" baseline="300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indent="0" marL="0">
              <a:lnSpc>
                <a:spcPct val="150000"/>
              </a:lnSpc>
              <a:buNone/>
            </a:pPr>
            <a:r>
              <a:rPr lang="en-US" sz="1250" baseline="-400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jht</a:t>
            </a:r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· X</a:t>
            </a:r>
            <a:pPr indent="0" marL="0">
              <a:lnSpc>
                <a:spcPct val="150000"/>
              </a:lnSpc>
              <a:buNone/>
            </a:pPr>
            <a:r>
              <a:rPr lang="en-US" sz="1250" baseline="-400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　　∀s,j,h,t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1883664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6E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改為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2084832"/>
            <a:ext cx="8138160" cy="548640"/>
          </a:xfrm>
          <a:prstGeom prst="rect">
            <a:avLst/>
          </a:prstGeom>
          <a:solidFill>
            <a:srgbClr val="E7F1EF"/>
          </a:solidFill>
          <a:ln w="12700">
            <a:solidFill>
              <a:srgbClr val="E7F1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2221992"/>
            <a:ext cx="7626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Σ</a:t>
            </a:r>
            <a:pPr indent="0" marL="0">
              <a:lnSpc>
                <a:spcPct val="150000"/>
              </a:lnSpc>
              <a:buNone/>
            </a:pPr>
            <a:r>
              <a:rPr lang="en-US" sz="125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l∈Ltr</a:t>
            </a:r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FO</a:t>
            </a:r>
            <a:pPr indent="0" marL="0">
              <a:lnSpc>
                <a:spcPct val="150000"/>
              </a:lnSpc>
              <a:buNone/>
            </a:pPr>
            <a:r>
              <a:rPr lang="en-US" sz="125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sjhlt</a:t>
            </a:r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　≤　min{ cap</a:t>
            </a:r>
            <a:pPr indent="0" marL="0">
              <a:lnSpc>
                <a:spcPct val="150000"/>
              </a:lnSpc>
              <a:buNone/>
            </a:pPr>
            <a:r>
              <a:rPr lang="en-US" sz="125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jh</a:t>
            </a:r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· ρ</a:t>
            </a:r>
            <a:pPr indent="0" marL="0">
              <a:lnSpc>
                <a:spcPct val="150000"/>
              </a:lnSpc>
              <a:buNone/>
            </a:pPr>
            <a:r>
              <a:rPr lang="en-US" sz="1250" baseline="3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indent="0" marL="0">
              <a:lnSpc>
                <a:spcPct val="150000"/>
              </a:lnSpc>
              <a:buNone/>
            </a:pPr>
            <a:r>
              <a:rPr lang="en-US" sz="125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jht</a:t>
            </a:r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,　Σ</a:t>
            </a:r>
            <a:pPr indent="0" marL="0">
              <a:lnSpc>
                <a:spcPct val="150000"/>
              </a:lnSpc>
              <a:buNone/>
            </a:pPr>
            <a:r>
              <a:rPr lang="en-US" sz="125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l∈Ltr</a:t>
            </a:r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</a:t>
            </a:r>
            <a:pPr indent="0" marL="0">
              <a:lnSpc>
                <a:spcPct val="150000"/>
              </a:lnSpc>
              <a:buNone/>
            </a:pPr>
            <a:r>
              <a:rPr lang="en-US" sz="125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</a:t>
            </a:r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} · X</a:t>
            </a:r>
            <a:pPr indent="0" marL="0">
              <a:lnSpc>
                <a:spcPct val="150000"/>
              </a:lnSpc>
              <a:buNone/>
            </a:pPr>
            <a:r>
              <a:rPr lang="en-US" sz="125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2724912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為什麼有效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2926080"/>
            <a:ext cx="813816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由 Flow_WAT 與 WAT ≥ 0：　Σ</a:t>
            </a:r>
            <a:pPr indent="0" marL="0">
              <a:lnSpc>
                <a:spcPct val="132000"/>
              </a:lnSpc>
              <a:buNone/>
            </a:pPr>
            <a:r>
              <a:rPr lang="en-US" sz="1150" baseline="-4000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</a:t>
            </a:r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FO</a:t>
            </a:r>
            <a:pPr indent="0" marL="0">
              <a:lnSpc>
                <a:spcPct val="132000"/>
              </a:lnSpc>
              <a:buNone/>
            </a:pPr>
            <a:r>
              <a:rPr lang="en-US" sz="1150" baseline="-4000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sjhlt</a:t>
            </a:r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≤ WAT</a:t>
            </a:r>
            <a:pPr indent="0" marL="0">
              <a:lnSpc>
                <a:spcPct val="132000"/>
              </a:lnSpc>
              <a:buNone/>
            </a:pPr>
            <a:r>
              <a:rPr lang="en-US" sz="1150" baseline="-4000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s,j,l,t−1</a:t>
            </a:r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+ REG</a:t>
            </a:r>
            <a:pPr indent="0" marL="0">
              <a:lnSpc>
                <a:spcPct val="132000"/>
              </a:lnSpc>
              <a:buNone/>
            </a:pPr>
            <a:r>
              <a:rPr lang="en-US" sz="1150" baseline="-4000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s,j,l,t−τl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而 TRT</a:t>
            </a:r>
            <a:pPr indent="0" marL="0">
              <a:lnSpc>
                <a:spcPct val="132000"/>
              </a:lnSpc>
              <a:buNone/>
            </a:pPr>
            <a:r>
              <a:rPr lang="en-US" sz="1150" baseline="-4000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s,j,l,t−1</a:t>
            </a:r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Σ</a:t>
            </a:r>
            <a:pPr indent="0" marL="0">
              <a:lnSpc>
                <a:spcPct val="132000"/>
              </a:lnSpc>
              <a:buNone/>
            </a:pPr>
            <a:r>
              <a:rPr lang="en-US" sz="1150" baseline="-4000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r=t−τl</a:t>
            </a:r>
            <a:pPr indent="0" marL="0">
              <a:lnSpc>
                <a:spcPct val="132000"/>
              </a:lnSpc>
              <a:buNone/>
            </a:pPr>
            <a:r>
              <a:rPr lang="en-US" sz="1150" baseline="3000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t−1</a:t>
            </a:r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REG</a:t>
            </a:r>
            <a:pPr indent="0" marL="0">
              <a:lnSpc>
                <a:spcPct val="132000"/>
              </a:lnSpc>
              <a:buNone/>
            </a:pPr>
            <a:r>
              <a:rPr lang="en-US" sz="1150" baseline="-4000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s,j,l,r</a:t>
            </a:r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已包含 REG</a:t>
            </a:r>
            <a:pPr indent="0" marL="0">
              <a:lnSpc>
                <a:spcPct val="132000"/>
              </a:lnSpc>
              <a:buNone/>
            </a:pPr>
            <a:r>
              <a:rPr lang="en-US" sz="1150" baseline="-4000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s,j,l,t−τl</a:t>
            </a:r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，故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WAT</a:t>
            </a:r>
            <a:pPr indent="0" marL="0">
              <a:lnSpc>
                <a:spcPct val="132000"/>
              </a:lnSpc>
              <a:buNone/>
            </a:pPr>
            <a:r>
              <a:rPr lang="en-US" sz="1150" baseline="-4000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t−1</a:t>
            </a:r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+ REG</a:t>
            </a:r>
            <a:pPr indent="0" marL="0">
              <a:lnSpc>
                <a:spcPct val="132000"/>
              </a:lnSpc>
              <a:buNone/>
            </a:pPr>
            <a:r>
              <a:rPr lang="en-US" sz="1150" baseline="-4000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t−τl</a:t>
            </a:r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≤ TRT</a:t>
            </a:r>
            <a:pPr indent="0" marL="0">
              <a:lnSpc>
                <a:spcPct val="132000"/>
              </a:lnSpc>
              <a:buNone/>
            </a:pPr>
            <a:r>
              <a:rPr lang="en-US" sz="1150" baseline="-4000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t−1</a:t>
            </a:r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+ WAT</a:t>
            </a:r>
            <a:pPr indent="0" marL="0">
              <a:lnSpc>
                <a:spcPct val="132000"/>
              </a:lnSpc>
              <a:buNone/>
            </a:pPr>
            <a:r>
              <a:rPr lang="en-US" sz="1150" baseline="-4000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t−1</a:t>
            </a:r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≤ P</a:t>
            </a:r>
            <a:pPr indent="0" marL="0">
              <a:lnSpc>
                <a:spcPct val="132000"/>
              </a:lnSpc>
              <a:buNone/>
            </a:pPr>
            <a:r>
              <a:rPr lang="en-US" sz="1150" baseline="-4000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</a:t>
            </a:r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·X</a:t>
            </a:r>
            <a:pPr indent="0" marL="0">
              <a:lnSpc>
                <a:spcPct val="132000"/>
              </a:lnSpc>
              <a:buNone/>
            </a:pPr>
            <a:r>
              <a:rPr lang="en-US" sz="1150" baseline="-4000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</a:t>
            </a:r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（CCP_PhysicalCap）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 l ∈ L</a:t>
            </a:r>
            <a:pPr indent="0" marL="0">
              <a:lnSpc>
                <a:spcPct val="132000"/>
              </a:lnSpc>
              <a:buNone/>
            </a:pPr>
            <a:r>
              <a:rPr lang="en-US" sz="1150" baseline="-4000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tr</a:t>
            </a:r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加總即得。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4187952"/>
            <a:ext cx="8138160" cy="566928"/>
          </a:xfrm>
          <a:prstGeom prst="rect">
            <a:avLst/>
          </a:prstGeom>
          <a:solidFill>
            <a:srgbClr val="F2F4F4"/>
          </a:solidFill>
          <a:ln w="12700">
            <a:solidFill>
              <a:srgbClr val="F2F4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" y="4187952"/>
            <a:ext cx="7626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B6E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意義　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C222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「這座 CCP 裡本來就沒那麼多人可送」。第 8 期由 52.4 收緊到 32。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183880" y="473659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B6E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VI-0(c) ＋ VI-11</a:t>
            </a:r>
            <a:pPr indent="0" marL="0">
              <a:buNone/>
            </a:pPr>
            <a:r>
              <a:rPr lang="en-US" sz="105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·　"staffub" ／ 無開關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22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醫護上限的 big-M，與兩條醫院限制式的合併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42416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3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VI-0(c)　Logic_V　[OPT]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243584"/>
            <a:ext cx="8138160" cy="841248"/>
          </a:xfrm>
          <a:prstGeom prst="rect">
            <a:avLst/>
          </a:prstGeom>
          <a:solidFill>
            <a:srgbClr val="F2F4F4"/>
          </a:solidFill>
          <a:ln w="12700">
            <a:solidFill>
              <a:srgbClr val="F2F4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380744"/>
            <a:ext cx="76260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原式　V</a:t>
            </a:r>
            <a:pPr indent="0" marL="0">
              <a:lnSpc>
                <a:spcPct val="150000"/>
              </a:lnSpc>
              <a:buNone/>
            </a:pPr>
            <a:r>
              <a:rPr lang="en-US" sz="1150" baseline="-400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≤ v̄</a:t>
            </a:r>
            <a:pPr indent="0" marL="0">
              <a:lnSpc>
                <a:spcPct val="150000"/>
              </a:lnSpc>
              <a:buNone/>
            </a:pPr>
            <a:r>
              <a:rPr lang="en-US" sz="1150" baseline="-400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· X</a:t>
            </a:r>
            <a:pPr indent="0" marL="0">
              <a:lnSpc>
                <a:spcPct val="150000"/>
              </a:lnSpc>
              <a:buNone/>
            </a:pPr>
            <a:r>
              <a:rPr lang="en-US" sz="1150" baseline="-400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　　　改為　V</a:t>
            </a:r>
            <a:pPr indent="0" marL="0">
              <a:lnSpc>
                <a:spcPct val="150000"/>
              </a:lnSpc>
              <a:buNone/>
            </a:pPr>
            <a:r>
              <a:rPr lang="en-US" sz="1150" baseline="-400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≤ min{ v̄</a:t>
            </a:r>
            <a:pPr indent="0" marL="0">
              <a:lnSpc>
                <a:spcPct val="150000"/>
              </a:lnSpc>
              <a:buNone/>
            </a:pPr>
            <a:r>
              <a:rPr lang="en-US" sz="1150" baseline="-400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, ⌈ Σ</a:t>
            </a:r>
            <a:pPr indent="0" marL="0">
              <a:lnSpc>
                <a:spcPct val="150000"/>
              </a:lnSpc>
              <a:buNone/>
            </a:pPr>
            <a:r>
              <a:rPr lang="en-US" sz="1150" baseline="-400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l∈L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</a:t>
            </a:r>
            <a:pPr indent="0" marL="0">
              <a:lnSpc>
                <a:spcPct val="150000"/>
              </a:lnSpc>
              <a:buNone/>
            </a:pPr>
            <a:r>
              <a:rPr lang="en-US" sz="1150" baseline="-400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/ σ</a:t>
            </a:r>
            <a:pPr indent="0" marL="0">
              <a:lnSpc>
                <a:spcPct val="150000"/>
              </a:lnSpc>
              <a:buNone/>
            </a:pPr>
            <a:r>
              <a:rPr lang="en-US" sz="1150" baseline="-400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⌉ } · X</a:t>
            </a:r>
            <a:pPr indent="0" marL="0">
              <a:lnSpc>
                <a:spcPct val="150000"/>
              </a:lnSpc>
              <a:buNone/>
            </a:pPr>
            <a:r>
              <a:rPr lang="en-US" sz="1150" baseline="-400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因 StaffCap 左式 Σ</a:t>
            </a:r>
            <a:pPr indent="0" marL="0">
              <a:lnSpc>
                <a:spcPct val="150000"/>
              </a:lnSpc>
              <a:buNone/>
            </a:pPr>
            <a:r>
              <a:rPr lang="en-US" sz="1150" baseline="-400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TRT</a:t>
            </a:r>
            <a:pPr indent="0" marL="0">
              <a:lnSpc>
                <a:spcPct val="150000"/>
              </a:lnSpc>
              <a:buNone/>
            </a:pPr>
            <a:r>
              <a:rPr lang="en-US" sz="1150" baseline="-400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sjlt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/σ</a:t>
            </a:r>
            <a:pPr indent="0" marL="0">
              <a:lnSpc>
                <a:spcPct val="150000"/>
              </a:lnSpc>
              <a:buNone/>
            </a:pPr>
            <a:r>
              <a:rPr lang="en-US" sz="1150" baseline="-400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≤ Σ</a:t>
            </a:r>
            <a:pPr indent="0" marL="0">
              <a:lnSpc>
                <a:spcPct val="150000"/>
              </a:lnSpc>
              <a:buNone/>
            </a:pPr>
            <a:r>
              <a:rPr lang="en-US" sz="1150" baseline="-400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</a:t>
            </a:r>
            <a:pPr indent="0" marL="0">
              <a:lnSpc>
                <a:spcPct val="150000"/>
              </a:lnSpc>
              <a:buNone/>
            </a:pPr>
            <a:r>
              <a:rPr lang="en-US" sz="1150" baseline="-400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/σ</a:t>
            </a:r>
            <a:pPr indent="0" marL="0">
              <a:lnSpc>
                <a:spcPct val="150000"/>
              </a:lnSpc>
              <a:buNone/>
            </a:pPr>
            <a:r>
              <a:rPr lang="en-US" sz="1150" baseline="-400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（由 TRT</a:t>
            </a:r>
            <a:pPr indent="0" marL="0">
              <a:lnSpc>
                <a:spcPct val="150000"/>
              </a:lnSpc>
              <a:buNone/>
            </a:pPr>
            <a:r>
              <a:rPr lang="en-US" sz="1150" baseline="-400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sjlt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≤ P</a:t>
            </a:r>
            <a:pPr indent="0" marL="0">
              <a:lnSpc>
                <a:spcPct val="150000"/>
              </a:lnSpc>
              <a:buNone/>
            </a:pPr>
            <a:r>
              <a:rPr lang="en-US" sz="1150" baseline="-400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indent="0" marL="0">
              <a:lnSpc>
                <a:spcPct val="150000"/>
              </a:lnSpc>
              <a:buNone/>
            </a:pPr>
            <a:r>
              <a:rPr lang="en-US" sz="1150" baseline="-400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），超過此值的 V</a:t>
            </a:r>
            <a:pPr indent="0" marL="0">
              <a:lnSpc>
                <a:spcPct val="150000"/>
              </a:lnSpc>
              <a:buNone/>
            </a:pPr>
            <a:r>
              <a:rPr lang="en-US" sz="1150" baseline="-400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永不綁定；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219456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又 V</a:t>
            </a:r>
            <a:pPr indent="0" marL="0">
              <a:lnSpc>
                <a:spcPct val="132000"/>
              </a:lnSpc>
              <a:buNone/>
            </a:pPr>
            <a:r>
              <a:rPr lang="en-US" sz="1150" baseline="-4000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</a:t>
            </a:r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的目標係數為正 ⇒ 存在同值最佳解滿足此上界。四個 scale 一致收緊 18–20%（small：57 → 46）。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2633472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6E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VI-11　Hosp_AmbCap ∧ Hosp_ReceiveCap　[EXACT]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2834640"/>
            <a:ext cx="8138160" cy="1133856"/>
          </a:xfrm>
          <a:prstGeom prst="rect">
            <a:avLst/>
          </a:prstGeom>
          <a:solidFill>
            <a:srgbClr val="E7F1EF"/>
          </a:solidFill>
          <a:ln w="12700">
            <a:solidFill>
              <a:srgbClr val="E7F1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2971800"/>
            <a:ext cx="7626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原本兩條（右手邊皆為常數）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　　Σ</a:t>
            </a:r>
            <a:pPr indent="0" marL="0">
              <a:lnSpc>
                <a:spcPct val="150000"/>
              </a:lnSpc>
              <a:buNone/>
            </a:pPr>
            <a:r>
              <a:rPr lang="en-US" sz="115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j,l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FO</a:t>
            </a:r>
            <a:pPr indent="0" marL="0">
              <a:lnSpc>
                <a:spcPct val="150000"/>
              </a:lnSpc>
              <a:buNone/>
            </a:pPr>
            <a:r>
              <a:rPr lang="en-US" sz="115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sjhlt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≤ κ</a:t>
            </a:r>
            <a:pPr indent="0" marL="0">
              <a:lnSpc>
                <a:spcPct val="150000"/>
              </a:lnSpc>
              <a:buNone/>
            </a:pPr>
            <a:r>
              <a:rPr lang="en-US" sz="1150" baseline="3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· m</a:t>
            </a:r>
            <a:pPr indent="0" marL="0">
              <a:lnSpc>
                <a:spcPct val="150000"/>
              </a:lnSpc>
              <a:buNone/>
            </a:pPr>
            <a:r>
              <a:rPr lang="en-US" sz="115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　　且　　Σ</a:t>
            </a:r>
            <a:pPr indent="0" marL="0">
              <a:lnSpc>
                <a:spcPct val="150000"/>
              </a:lnSpc>
              <a:buNone/>
            </a:pPr>
            <a:r>
              <a:rPr lang="en-US" sz="115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j,l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FO</a:t>
            </a:r>
            <a:pPr indent="0" marL="0">
              <a:lnSpc>
                <a:spcPct val="150000"/>
              </a:lnSpc>
              <a:buNone/>
            </a:pPr>
            <a:r>
              <a:rPr lang="en-US" sz="115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sjhlt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≤ ĥ</a:t>
            </a:r>
            <a:pPr indent="0" marL="0">
              <a:lnSpc>
                <a:spcPct val="150000"/>
              </a:lnSpc>
              <a:buNone/>
            </a:pPr>
            <a:r>
              <a:rPr lang="en-US" sz="1150" baseline="3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indent="0" marL="0">
              <a:lnSpc>
                <a:spcPct val="150000"/>
              </a:lnSpc>
              <a:buNone/>
            </a:pPr>
            <a:r>
              <a:rPr lang="en-US" sz="115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ht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合併為　Σ</a:t>
            </a:r>
            <a:pPr indent="0" marL="0">
              <a:lnSpc>
                <a:spcPct val="150000"/>
              </a:lnSpc>
              <a:buNone/>
            </a:pPr>
            <a:r>
              <a:rPr lang="en-US" sz="115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j∈J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Σ</a:t>
            </a:r>
            <a:pPr indent="0" marL="0">
              <a:lnSpc>
                <a:spcPct val="150000"/>
              </a:lnSpc>
              <a:buNone/>
            </a:pPr>
            <a:r>
              <a:rPr lang="en-US" sz="115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l∈Ltr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FO</a:t>
            </a:r>
            <a:pPr indent="0" marL="0">
              <a:lnSpc>
                <a:spcPct val="150000"/>
              </a:lnSpc>
              <a:buNone/>
            </a:pPr>
            <a:r>
              <a:rPr lang="en-US" sz="115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sjhlt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≤ min{ κ</a:t>
            </a:r>
            <a:pPr indent="0" marL="0">
              <a:lnSpc>
                <a:spcPct val="150000"/>
              </a:lnSpc>
              <a:buNone/>
            </a:pPr>
            <a:r>
              <a:rPr lang="en-US" sz="1150" baseline="3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· m</a:t>
            </a:r>
            <a:pPr indent="0" marL="0">
              <a:lnSpc>
                <a:spcPct val="150000"/>
              </a:lnSpc>
              <a:buNone/>
            </a:pPr>
            <a:r>
              <a:rPr lang="en-US" sz="115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,　ĥ</a:t>
            </a:r>
            <a:pPr indent="0" marL="0">
              <a:lnSpc>
                <a:spcPct val="150000"/>
              </a:lnSpc>
              <a:buNone/>
            </a:pPr>
            <a:r>
              <a:rPr lang="en-US" sz="1150" baseline="3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indent="0" marL="0">
              <a:lnSpc>
                <a:spcPct val="150000"/>
              </a:lnSpc>
              <a:buNone/>
            </a:pPr>
            <a:r>
              <a:rPr lang="en-US" sz="115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ht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}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4041648"/>
            <a:ext cx="8138160" cy="566928"/>
          </a:xfrm>
          <a:prstGeom prst="rect">
            <a:avLst/>
          </a:prstGeom>
          <a:solidFill>
            <a:srgbClr val="F2F4F4"/>
          </a:solidFill>
          <a:ln w="12700">
            <a:solidFill>
              <a:srgbClr val="F2F4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4041648"/>
            <a:ext cx="7626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B6E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意義　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C222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Extensive form 少掉 |S|·|H|·|T| = 4,320 條限制式；每個 ScenarioOracle 少 144 條。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183880" y="473659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B6E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VI-1</a:t>
            </a:r>
            <a:pPr indent="0" marL="0">
              <a:buNone/>
            </a:pPr>
            <a:r>
              <a:rPr lang="en-US" sz="105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·　"floor"</a:t>
            </a:r>
            <a:pPr indent="0" marL="0">
              <a:buNone/>
            </a:pPr>
            <a:r>
              <a:rPr lang="en-US" sz="1000" b="1" dirty="0">
                <a:solidFill>
                  <a:srgbClr val="1C5F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·　[RELAX]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22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情境地板：θ 的下界不再只是 0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42416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6E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加入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243584"/>
            <a:ext cx="8138160" cy="1188720"/>
          </a:xfrm>
          <a:prstGeom prst="rect">
            <a:avLst/>
          </a:prstGeom>
          <a:solidFill>
            <a:srgbClr val="E7F1EF"/>
          </a:solidFill>
          <a:ln w="12700">
            <a:solidFill>
              <a:srgbClr val="E7F1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380744"/>
            <a:ext cx="76260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θ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　≥　q̲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:= Q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 x̄ )　　　∀s ∈ S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其中　x̄ = ( X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=1,　V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=v̄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　U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=ū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　Y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hj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=min{Ȳ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ȳ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} )　∀j,h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另加在 x̄ 產生的 Benders cut（支配上式）：θ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≥ Q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(x̄) + Σ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(RC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− obj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)(v − x̄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2523744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為什麼有效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2724912"/>
            <a:ext cx="813816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所有一階變數在第二階段只出現在「≤」的右手邊（RoadCap、CCP_AmbCap、CCP_PhysicalCap、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StaffCap、SupplyCap），故 Q</a:t>
            </a:r>
            <a:pPr indent="0" marL="0">
              <a:lnSpc>
                <a:spcPct val="132000"/>
              </a:lnSpc>
              <a:buNone/>
            </a:pPr>
            <a:r>
              <a:rPr lang="en-US" sz="1150" baseline="-4000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</a:t>
            </a:r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(·) 對 (X,V,U,Y) 逐分量非增。任何一階可行 x 都滿足 x ≤ x̄，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因此 Q</a:t>
            </a:r>
            <a:pPr indent="0" marL="0">
              <a:lnSpc>
                <a:spcPct val="132000"/>
              </a:lnSpc>
              <a:buNone/>
            </a:pPr>
            <a:r>
              <a:rPr lang="en-US" sz="1150" baseline="-4000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</a:t>
            </a:r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(x) ≥ Q</a:t>
            </a:r>
            <a:pPr indent="0" marL="0">
              <a:lnSpc>
                <a:spcPct val="132000"/>
              </a:lnSpc>
              <a:buNone/>
            </a:pPr>
            <a:r>
              <a:rPr lang="en-US" sz="1150" baseline="-4000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</a:t>
            </a:r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(x̄)。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注意 x̄ 本身違反資源池（Σ</a:t>
            </a:r>
            <a:pPr indent="0" marL="0">
              <a:lnSpc>
                <a:spcPct val="132000"/>
              </a:lnSpc>
              <a:buNone/>
            </a:pPr>
            <a:r>
              <a:rPr lang="en-US" sz="1150" baseline="-4000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</a:t>
            </a:r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v̄</a:t>
            </a:r>
            <a:pPr indent="0" marL="0">
              <a:lnSpc>
                <a:spcPct val="132000"/>
              </a:lnSpc>
              <a:buNone/>
            </a:pPr>
            <a:r>
              <a:rPr lang="en-US" sz="1150" baseline="-4000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</a:t>
            </a:r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&gt; V̄），實作上求解前先鬆開子問題內的一階限制式再還原 ——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鬆開後值函數 φ(x) = F(x) + Q</a:t>
            </a:r>
            <a:pPr indent="0" marL="0">
              <a:lnSpc>
                <a:spcPct val="132000"/>
              </a:lnSpc>
              <a:buNone/>
            </a:pPr>
            <a:r>
              <a:rPr lang="en-US" sz="1150" baseline="-4000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</a:t>
            </a:r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(x) 仍為凸，RC 給出的次梯度不等式對所有 x 成立，cut 依然有效。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4169664"/>
            <a:ext cx="8138160" cy="566928"/>
          </a:xfrm>
          <a:prstGeom prst="rect">
            <a:avLst/>
          </a:prstGeom>
          <a:solidFill>
            <a:srgbClr val="F2F4F4"/>
          </a:solidFill>
          <a:ln w="12700">
            <a:solidFill>
              <a:srgbClr val="F2F4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4169664"/>
            <a:ext cx="7626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B6E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意義　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C222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「就算資源無限也躲不掉的成本」。對 MCVaR / DRO 尤其關鍵：它讓各 θ</a:t>
            </a:r>
            <a:pPr indent="0" marL="0">
              <a:lnSpc>
                <a:spcPct val="120000"/>
              </a:lnSpc>
              <a:buNone/>
            </a:pPr>
            <a:r>
              <a:rPr lang="en-US" sz="1150" baseline="-40000" dirty="0">
                <a:solidFill>
                  <a:srgbClr val="1C222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C222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之間產生落差。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183880" y="473659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B6E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VI-2 ＋ VI-9</a:t>
            </a:r>
            <a:pPr indent="0" marL="0">
              <a:buNone/>
            </a:pPr>
            <a:r>
              <a:rPr lang="en-US" sz="105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·　"ceiling"</a:t>
            </a:r>
            <a:pPr indent="0" marL="0">
              <a:buNone/>
            </a:pPr>
            <a:r>
              <a:rPr lang="en-US" sz="1000" b="1" dirty="0">
                <a:solidFill>
                  <a:srgbClr val="8A53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·　[OPT]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22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情境天花板，與風險層變數的界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42416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6E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VI-2　閉式，不需解 LP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243584"/>
            <a:ext cx="8138160" cy="841248"/>
          </a:xfrm>
          <a:prstGeom prst="rect">
            <a:avLst/>
          </a:prstGeom>
          <a:solidFill>
            <a:srgbClr val="E7F1EF"/>
          </a:solidFill>
          <a:ln w="12700">
            <a:solidFill>
              <a:srgbClr val="E7F1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380744"/>
            <a:ext cx="76260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θ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　≤　q̄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:= Q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(0)　=　Σ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i∈I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Σ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l∈L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Σ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t∈T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π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· Ď</a:t>
            </a:r>
            <a:pPr indent="0" marL="0">
              <a:lnSpc>
                <a:spcPct val="150000"/>
              </a:lnSpc>
              <a:buNone/>
            </a:pPr>
            <a:r>
              <a:rPr lang="en-US" sz="1200" baseline="3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ilt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 = 0 時 RoadCap 迫使 FI = FO = 0 ⇒ 全部需求滯留、WAT = 0、運送成本 = 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2231136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為什麼有效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243230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</a:t>
            </a:r>
            <a:pPr indent="0" marL="0">
              <a:lnSpc>
                <a:spcPct val="132000"/>
              </a:lnSpc>
              <a:buNone/>
            </a:pPr>
            <a:r>
              <a:rPr lang="en-US" sz="1150" baseline="-4000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</a:t>
            </a:r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對 x 逐分量非增且 x* ≥ 0 ⇒ 最佳解必有 θ</a:t>
            </a:r>
            <a:pPr indent="0" marL="0">
              <a:lnSpc>
                <a:spcPct val="132000"/>
              </a:lnSpc>
              <a:buNone/>
            </a:pPr>
            <a:r>
              <a:rPr lang="en-US" sz="1150" baseline="-4000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</a:t>
            </a:r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Q</a:t>
            </a:r>
            <a:pPr indent="0" marL="0">
              <a:lnSpc>
                <a:spcPct val="132000"/>
              </a:lnSpc>
              <a:buNone/>
            </a:pPr>
            <a:r>
              <a:rPr lang="en-US" sz="1150" baseline="-4000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</a:t>
            </a:r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(x*) ≤ Q</a:t>
            </a:r>
            <a:pPr indent="0" marL="0">
              <a:lnSpc>
                <a:spcPct val="132000"/>
              </a:lnSpc>
              <a:buNone/>
            </a:pPr>
            <a:r>
              <a:rPr lang="en-US" sz="1150" baseline="-4000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</a:t>
            </a:r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(0)。保最佳性。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3072384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6E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VI-9　風險層（僅在 risk_cfg ≠ None 時生效）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3273552"/>
            <a:ext cx="8138160" cy="859536"/>
          </a:xfrm>
          <a:prstGeom prst="rect">
            <a:avLst/>
          </a:prstGeom>
          <a:solidFill>
            <a:srgbClr val="E7F1EF"/>
          </a:solidFill>
          <a:ln w="12700">
            <a:solidFill>
              <a:srgbClr val="E7F1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" y="3410712"/>
            <a:ext cx="7626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</a:t>
            </a:r>
            <a:pPr indent="0" marL="0">
              <a:lnSpc>
                <a:spcPct val="150000"/>
              </a:lnSpc>
              <a:buNone/>
            </a:pPr>
            <a:r>
              <a:rPr lang="en-US" sz="115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q̲</a:t>
            </a:r>
            <a:pPr indent="0" marL="0">
              <a:lnSpc>
                <a:spcPct val="150000"/>
              </a:lnSpc>
              <a:buNone/>
            </a:pPr>
            <a:r>
              <a:rPr lang="en-US" sz="115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　≤　φ　≤　max</a:t>
            </a:r>
            <a:pPr indent="0" marL="0">
              <a:lnSpc>
                <a:spcPct val="150000"/>
              </a:lnSpc>
              <a:buNone/>
            </a:pPr>
            <a:r>
              <a:rPr lang="en-US" sz="115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q̄</a:t>
            </a:r>
            <a:pPr indent="0" marL="0">
              <a:lnSpc>
                <a:spcPct val="150000"/>
              </a:lnSpc>
              <a:buNone/>
            </a:pPr>
            <a:r>
              <a:rPr lang="en-US" sz="115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　　　0 ≤ ℓ</a:t>
            </a:r>
            <a:pPr indent="0" marL="0">
              <a:lnSpc>
                <a:spcPct val="150000"/>
              </a:lnSpc>
              <a:buNone/>
            </a:pPr>
            <a:r>
              <a:rPr lang="en-US" sz="115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≤ max</a:t>
            </a:r>
            <a:pPr indent="0" marL="0">
              <a:lnSpc>
                <a:spcPct val="150000"/>
              </a:lnSpc>
              <a:buNone/>
            </a:pPr>
            <a:r>
              <a:rPr lang="en-US" sz="115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q̄</a:t>
            </a:r>
            <a:pPr indent="0" marL="0">
              <a:lnSpc>
                <a:spcPct val="150000"/>
              </a:lnSpc>
              <a:buNone/>
            </a:pPr>
            <a:r>
              <a:rPr lang="en-US" sz="115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− min</a:t>
            </a:r>
            <a:pPr indent="0" marL="0">
              <a:lnSpc>
                <a:spcPct val="150000"/>
              </a:lnSpc>
              <a:buNone/>
            </a:pPr>
            <a:r>
              <a:rPr lang="en-US" sz="115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q̲</a:t>
            </a:r>
            <a:pPr indent="0" marL="0">
              <a:lnSpc>
                <a:spcPct val="150000"/>
              </a:lnSpc>
              <a:buNone/>
            </a:pPr>
            <a:r>
              <a:rPr lang="en-US" sz="115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φ* 是離散分佈 {Q</a:t>
            </a:r>
            <a:pPr indent="0" marL="0">
              <a:lnSpc>
                <a:spcPct val="150000"/>
              </a:lnSpc>
              <a:buNone/>
            </a:pPr>
            <a:r>
              <a:rPr lang="en-US" sz="115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} 的 α-分位數 ⇒ 必落在 [ min</a:t>
            </a:r>
            <a:pPr indent="0" marL="0">
              <a:lnSpc>
                <a:spcPct val="150000"/>
              </a:lnSpc>
              <a:buNone/>
            </a:pPr>
            <a:r>
              <a:rPr lang="en-US" sz="115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</a:t>
            </a:r>
            <a:pPr indent="0" marL="0">
              <a:lnSpc>
                <a:spcPct val="150000"/>
              </a:lnSpc>
              <a:buNone/>
            </a:pPr>
            <a:r>
              <a:rPr lang="en-US" sz="115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,　max</a:t>
            </a:r>
            <a:pPr indent="0" marL="0">
              <a:lnSpc>
                <a:spcPct val="150000"/>
              </a:lnSpc>
              <a:buNone/>
            </a:pPr>
            <a:r>
              <a:rPr lang="en-US" sz="115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</a:t>
            </a:r>
            <a:pPr indent="0" marL="0">
              <a:lnSpc>
                <a:spcPct val="150000"/>
              </a:lnSpc>
              <a:buNone/>
            </a:pPr>
            <a:r>
              <a:rPr lang="en-US" sz="115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]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4224528"/>
            <a:ext cx="8138160" cy="566928"/>
          </a:xfrm>
          <a:prstGeom prst="rect">
            <a:avLst/>
          </a:prstGeom>
          <a:solidFill>
            <a:srgbClr val="F2F4F4"/>
          </a:solidFill>
          <a:ln w="12700">
            <a:solidFill>
              <a:srgbClr val="F2F4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" y="4224528"/>
            <a:ext cx="7626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B6E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意義　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C222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θ 有了上界，DRO 的 box／polyhedral／ellipsoidal 對偶區塊才收得緊。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183880" y="473659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B6E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VI-7　(1/2)</a:t>
            </a:r>
            <a:pPr indent="0" marL="0">
              <a:buNone/>
            </a:pPr>
            <a:r>
              <a:rPr lang="en-US" sz="105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·　"agg"</a:t>
            </a:r>
            <a:pPr indent="0" marL="0">
              <a:buNone/>
            </a:pPr>
            <a:r>
              <a:rPr lang="en-US" sz="1000" b="1" dirty="0">
                <a:solidFill>
                  <a:srgbClr val="1C5F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·　[RELAX]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22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彙總鬆弛：把二階問題對 i, j, h 全部加總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42416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6E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每情境 s 新增的彙總變數（連續、非負）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243584"/>
            <a:ext cx="8138160" cy="914400"/>
          </a:xfrm>
          <a:prstGeom prst="rect">
            <a:avLst/>
          </a:prstGeom>
          <a:solidFill>
            <a:srgbClr val="E7F1EF"/>
          </a:solidFill>
          <a:ln w="12700">
            <a:solidFill>
              <a:srgbClr val="E7F1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380744"/>
            <a:ext cx="76260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aF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lt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Σ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i,j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FI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sijlt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　　　　aR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lt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Σ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RM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silt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aO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lt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Σ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j,h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FO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sjhlt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　　　aW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lt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Σ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WAT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sjlt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　　(l ∈ L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2231136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流量守恆（由原等式對索引加總，仍為等式）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2432304"/>
            <a:ext cx="8138160" cy="877824"/>
          </a:xfrm>
          <a:prstGeom prst="rect">
            <a:avLst/>
          </a:prstGeom>
          <a:solidFill>
            <a:srgbClr val="F2F4F4"/>
          </a:solidFill>
          <a:ln w="12700">
            <a:solidFill>
              <a:srgbClr val="F2F4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2569464"/>
            <a:ext cx="7626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(1)　aR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lt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aR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l,t−1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− aF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lt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+ D</a:t>
            </a:r>
            <a:pPr indent="0" marL="0">
              <a:lnSpc>
                <a:spcPct val="150000"/>
              </a:lnSpc>
              <a:buNone/>
            </a:pPr>
            <a:r>
              <a:rPr lang="en-US" sz="1200" baseline="300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lt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　　　（D</a:t>
            </a:r>
            <a:pPr indent="0" marL="0">
              <a:lnSpc>
                <a:spcPct val="150000"/>
              </a:lnSpc>
              <a:buNone/>
            </a:pPr>
            <a:r>
              <a:rPr lang="en-US" sz="1200" baseline="300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lt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Σ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d</a:t>
            </a:r>
            <a:pPr indent="0" marL="0">
              <a:lnSpc>
                <a:spcPct val="150000"/>
              </a:lnSpc>
              <a:buNone/>
            </a:pPr>
            <a:r>
              <a:rPr lang="en-US" sz="1200" baseline="300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ilt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）　← Flow_RM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(2)　aW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lt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aW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l,t−1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+ aF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l,t−τl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− aO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lt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　　　　　　　　　← Flow_WAT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3419856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容量（由原不等式對索引加總，仍為 ≤）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3621024"/>
            <a:ext cx="8138160" cy="896112"/>
          </a:xfrm>
          <a:prstGeom prst="rect">
            <a:avLst/>
          </a:prstGeom>
          <a:solidFill>
            <a:srgbClr val="F2F4F4"/>
          </a:solidFill>
          <a:ln w="12700">
            <a:solidFill>
              <a:srgbClr val="F2F4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3758184"/>
            <a:ext cx="76260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(3)　Σ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r=t−τl+1</a:t>
            </a:r>
            <a:pPr indent="0" marL="0">
              <a:lnSpc>
                <a:spcPct val="150000"/>
              </a:lnSpc>
              <a:buNone/>
            </a:pPr>
            <a:r>
              <a:rPr lang="en-US" sz="1200" baseline="300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aF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lr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+ aW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lt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≤ P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Σ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X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　(l∈L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　← CCP_PhysicalCap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　　 Σ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r=t−τl+1</a:t>
            </a:r>
            <a:pPr indent="0" marL="0">
              <a:lnSpc>
                <a:spcPct val="150000"/>
              </a:lnSpc>
              <a:buNone/>
            </a:pPr>
            <a:r>
              <a:rPr lang="en-US" sz="1200" baseline="300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aF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lr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≤ P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Σ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X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　　　　(l∉L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183880" y="473659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B6E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VI-7　(2/2)</a:t>
            </a:r>
            <a:pPr indent="0" marL="0">
              <a:buNone/>
            </a:pPr>
            <a:r>
              <a:rPr lang="en-US" sz="105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·　"agg"</a:t>
            </a:r>
            <a:pPr indent="0" marL="0">
              <a:buNone/>
            </a:pPr>
            <a:r>
              <a:rPr lang="en-US" sz="1000" b="1" dirty="0">
                <a:solidFill>
                  <a:srgbClr val="1C5F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·　[RELAX]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22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其餘容量式與 θ 的連結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42416"/>
            <a:ext cx="8138160" cy="2194560"/>
          </a:xfrm>
          <a:prstGeom prst="rect">
            <a:avLst/>
          </a:prstGeom>
          <a:solidFill>
            <a:srgbClr val="F2F4F4"/>
          </a:solidFill>
          <a:ln w="12700">
            <a:solidFill>
              <a:srgbClr val="F2F4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1179576"/>
            <a:ext cx="7626096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(4)　Σ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(1/σ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 Σ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r=t−τl+1</a:t>
            </a:r>
            <a:pPr indent="0" marL="0">
              <a:lnSpc>
                <a:spcPct val="150000"/>
              </a:lnSpc>
              <a:buNone/>
            </a:pPr>
            <a:r>
              <a:rPr lang="en-US" sz="1200" baseline="300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aF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lr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　≤　Σ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V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　　　　　← StaffCap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(5)　Σ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l∈Ltr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aF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lt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　≤　κ</a:t>
            </a:r>
            <a:pPr indent="0" marL="0">
              <a:lnSpc>
                <a:spcPct val="150000"/>
              </a:lnSpc>
              <a:buNone/>
            </a:pPr>
            <a:r>
              <a:rPr lang="en-US" sz="1200" baseline="300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Σ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U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　　　　　　　　　　　← CCP_AmbCap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(6)　Σ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l,t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c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aF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lt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　≤　Σ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h,j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Y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hj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　　　　　　　　　　　← SupplyCap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(7)　Σ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l∈Ltr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aO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lt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　≤　Σ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min{ κ</a:t>
            </a:r>
            <a:pPr indent="0" marL="0">
              <a:lnSpc>
                <a:spcPct val="150000"/>
              </a:lnSpc>
              <a:buNone/>
            </a:pPr>
            <a:r>
              <a:rPr lang="en-US" sz="1200" baseline="300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m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,　ĥ</a:t>
            </a:r>
            <a:pPr indent="0" marL="0">
              <a:lnSpc>
                <a:spcPct val="150000"/>
              </a:lnSpc>
              <a:buNone/>
            </a:pPr>
            <a:r>
              <a:rPr lang="en-US" sz="1200" baseline="300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ht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}　　　← VI-11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(8)　Σ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aF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lt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　≤　Σ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 Σ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M</a:t>
            </a:r>
            <a:pPr indent="0" marL="0">
              <a:lnSpc>
                <a:spcPct val="150000"/>
              </a:lnSpc>
              <a:buNone/>
            </a:pPr>
            <a:r>
              <a:rPr lang="en-US" sz="1200" baseline="300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ijt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) X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　　　　　　　← VI-0(a)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(9)　Σ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l∈Ltr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aO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lt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　≤　Σ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 Σ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M</a:t>
            </a:r>
            <a:pPr indent="0" marL="0">
              <a:lnSpc>
                <a:spcPct val="150000"/>
              </a:lnSpc>
              <a:buNone/>
            </a:pPr>
            <a:r>
              <a:rPr lang="en-US" sz="1200" baseline="300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jht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) X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　　　　　← VI-0(b)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3291840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6E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連結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3493008"/>
            <a:ext cx="8138160" cy="640080"/>
          </a:xfrm>
          <a:prstGeom prst="rect">
            <a:avLst/>
          </a:prstGeom>
          <a:solidFill>
            <a:srgbClr val="E7F1EF"/>
          </a:solidFill>
          <a:ln w="12700">
            <a:solidFill>
              <a:srgbClr val="E7F1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3630168"/>
            <a:ext cx="7626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θ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　≥　Σ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l,t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π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aR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lt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　+　Σ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l∈Ltr,t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w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aW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lt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　+　c</a:t>
            </a:r>
            <a:pPr indent="0" marL="0">
              <a:lnSpc>
                <a:spcPct val="150000"/>
              </a:lnSpc>
              <a:buNone/>
            </a:pPr>
            <a:r>
              <a:rPr lang="en-US" sz="1200" baseline="3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ij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Σ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l,t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aF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lt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　+　c</a:t>
            </a:r>
            <a:pPr indent="0" marL="0">
              <a:lnSpc>
                <a:spcPct val="150000"/>
              </a:lnSpc>
              <a:buNone/>
            </a:pPr>
            <a:r>
              <a:rPr lang="en-US" sz="1200" baseline="3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jh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Σ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l,t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aO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4224528"/>
            <a:ext cx="8138160" cy="457200"/>
          </a:xfrm>
          <a:prstGeom prst="rect">
            <a:avLst/>
          </a:prstGeom>
          <a:solidFill>
            <a:srgbClr val="F2F4F4"/>
          </a:solidFill>
          <a:ln w="12700">
            <a:solidFill>
              <a:srgbClr val="F2F4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4224528"/>
            <a:ext cx="7626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B6E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意義　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C222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每情境 80 變數 / 約 106 條限制式。Jensen LBF 為 42,745 變數 / 18,229 條，且只綁得住 Σ p</a:t>
            </a:r>
            <a:pPr indent="0" marL="0">
              <a:lnSpc>
                <a:spcPct val="120000"/>
              </a:lnSpc>
              <a:buNone/>
            </a:pPr>
            <a:r>
              <a:rPr lang="en-US" sz="1150" baseline="-40000" dirty="0">
                <a:solidFill>
                  <a:srgbClr val="1C222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C222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θ</a:t>
            </a:r>
            <a:pPr indent="0" marL="0">
              <a:lnSpc>
                <a:spcPct val="120000"/>
              </a:lnSpc>
              <a:buNone/>
            </a:pPr>
            <a:r>
              <a:rPr lang="en-US" sz="1150" baseline="-40000" dirty="0">
                <a:solidFill>
                  <a:srgbClr val="1C222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C222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183880" y="473659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B6E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VI-10</a:t>
            </a:r>
            <a:pPr indent="0" marL="0">
              <a:buNone/>
            </a:pPr>
            <a:r>
              <a:rPr lang="en-US" sz="105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·　"openuse"</a:t>
            </a:r>
            <a:pPr indent="0" marL="0">
              <a:buNone/>
            </a:pPr>
            <a:r>
              <a:rPr lang="en-US" sz="1000" b="1" dirty="0">
                <a:solidFill>
                  <a:srgbClr val="8A53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·　[OPT]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22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開了就要用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42416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6E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加入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243584"/>
            <a:ext cx="8138160" cy="566928"/>
          </a:xfrm>
          <a:prstGeom prst="rect">
            <a:avLst/>
          </a:prstGeom>
          <a:solidFill>
            <a:srgbClr val="E7F1EF"/>
          </a:solidFill>
          <a:ln w="12700">
            <a:solidFill>
              <a:srgbClr val="E7F1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380744"/>
            <a:ext cx="7626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indent="0" marL="0">
              <a:lnSpc>
                <a:spcPct val="150000"/>
              </a:lnSpc>
              <a:buNone/>
            </a:pPr>
            <a:r>
              <a:rPr lang="en-US" sz="125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　≤　V</a:t>
            </a:r>
            <a:pPr indent="0" marL="0">
              <a:lnSpc>
                <a:spcPct val="150000"/>
              </a:lnSpc>
              <a:buNone/>
            </a:pPr>
            <a:r>
              <a:rPr lang="en-US" sz="125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　　　　　X</a:t>
            </a:r>
            <a:pPr indent="0" marL="0">
              <a:lnSpc>
                <a:spcPct val="150000"/>
              </a:lnSpc>
              <a:buNone/>
            </a:pPr>
            <a:r>
              <a:rPr lang="en-US" sz="125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　≤　Σ</a:t>
            </a:r>
            <a:pPr indent="0" marL="0">
              <a:lnSpc>
                <a:spcPct val="150000"/>
              </a:lnSpc>
              <a:buNone/>
            </a:pPr>
            <a:r>
              <a:rPr lang="en-US" sz="125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h∈H</a:t>
            </a:r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Y</a:t>
            </a:r>
            <a:pPr indent="0" marL="0">
              <a:lnSpc>
                <a:spcPct val="150000"/>
              </a:lnSpc>
              <a:buNone/>
            </a:pPr>
            <a:r>
              <a:rPr lang="en-US" sz="125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hj</a:t>
            </a:r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　　　　∀j ∈ J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1920240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為什麼有效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2121408"/>
            <a:ext cx="8138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反證。設某最佳解有 X</a:t>
            </a:r>
            <a:pPr indent="0" marL="0">
              <a:lnSpc>
                <a:spcPct val="132000"/>
              </a:lnSpc>
              <a:buNone/>
            </a:pPr>
            <a:r>
              <a:rPr lang="en-US" sz="1150" baseline="-4000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</a:t>
            </a:r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1，但 CCP j 完全沒有病患通過（REG</a:t>
            </a:r>
            <a:pPr indent="0" marL="0">
              <a:lnSpc>
                <a:spcPct val="132000"/>
              </a:lnSpc>
              <a:buNone/>
            </a:pPr>
            <a:r>
              <a:rPr lang="en-US" sz="1150" baseline="-4000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sjlt</a:t>
            </a:r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0 ∀s,l,t）。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 X</a:t>
            </a:r>
            <a:pPr indent="0" marL="0">
              <a:lnSpc>
                <a:spcPct val="132000"/>
              </a:lnSpc>
              <a:buNone/>
            </a:pPr>
            <a:r>
              <a:rPr lang="en-US" sz="1150" baseline="-4000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</a:t>
            </a:r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改為 0 仍然可行（j 的所有二階變數本來就是 0），且嚴格省下 f</a:t>
            </a:r>
            <a:pPr indent="0" marL="0">
              <a:lnSpc>
                <a:spcPct val="132000"/>
              </a:lnSpc>
              <a:buNone/>
            </a:pPr>
            <a:r>
              <a:rPr lang="en-US" sz="1150" baseline="-4000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</a:t>
            </a:r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1,500,000 &gt; 0，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與最佳性矛盾。故最佳解中 X</a:t>
            </a:r>
            <a:pPr indent="0" marL="0">
              <a:lnSpc>
                <a:spcPct val="132000"/>
              </a:lnSpc>
              <a:buNone/>
            </a:pPr>
            <a:r>
              <a:rPr lang="en-US" sz="1150" baseline="-4000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</a:t>
            </a:r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1 ⇒ 存在 REG</a:t>
            </a:r>
            <a:pPr indent="0" marL="0">
              <a:lnSpc>
                <a:spcPct val="132000"/>
              </a:lnSpc>
              <a:buNone/>
            </a:pPr>
            <a:r>
              <a:rPr lang="en-US" sz="1150" baseline="-4000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sjlt</a:t>
            </a:r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&gt; 0，此時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StaffCap　Σ</a:t>
            </a:r>
            <a:pPr indent="0" marL="0">
              <a:lnSpc>
                <a:spcPct val="132000"/>
              </a:lnSpc>
              <a:buNone/>
            </a:pPr>
            <a:r>
              <a:rPr lang="en-US" sz="1150" baseline="-4000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</a:t>
            </a:r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TRT</a:t>
            </a:r>
            <a:pPr indent="0" marL="0">
              <a:lnSpc>
                <a:spcPct val="132000"/>
              </a:lnSpc>
              <a:buNone/>
            </a:pPr>
            <a:r>
              <a:rPr lang="en-US" sz="1150" baseline="-4000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sjlt</a:t>
            </a:r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/σ</a:t>
            </a:r>
            <a:pPr indent="0" marL="0">
              <a:lnSpc>
                <a:spcPct val="132000"/>
              </a:lnSpc>
              <a:buNone/>
            </a:pPr>
            <a:r>
              <a:rPr lang="en-US" sz="1150" baseline="-4000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</a:t>
            </a:r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≤ V</a:t>
            </a:r>
            <a:pPr indent="0" marL="0">
              <a:lnSpc>
                <a:spcPct val="132000"/>
              </a:lnSpc>
              <a:buNone/>
            </a:pPr>
            <a:r>
              <a:rPr lang="en-US" sz="1150" baseline="-4000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</a:t>
            </a:r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⇒　V</a:t>
            </a:r>
            <a:pPr indent="0" marL="0">
              <a:lnSpc>
                <a:spcPct val="132000"/>
              </a:lnSpc>
              <a:buNone/>
            </a:pPr>
            <a:r>
              <a:rPr lang="en-US" sz="1150" baseline="-4000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</a:t>
            </a:r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&gt; 0，且 V</a:t>
            </a:r>
            <a:pPr indent="0" marL="0">
              <a:lnSpc>
                <a:spcPct val="132000"/>
              </a:lnSpc>
              <a:buNone/>
            </a:pPr>
            <a:r>
              <a:rPr lang="en-US" sz="1150" baseline="-4000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</a:t>
            </a:r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∈ℤ₊　⇒　V</a:t>
            </a:r>
            <a:pPr indent="0" marL="0">
              <a:lnSpc>
                <a:spcPct val="132000"/>
              </a:lnSpc>
              <a:buNone/>
            </a:pPr>
            <a:r>
              <a:rPr lang="en-US" sz="1150" baseline="-4000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</a:t>
            </a:r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≥ 1；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SupplyCap　Σ</a:t>
            </a:r>
            <a:pPr indent="0" marL="0">
              <a:lnSpc>
                <a:spcPct val="132000"/>
              </a:lnSpc>
              <a:buNone/>
            </a:pPr>
            <a:r>
              <a:rPr lang="en-US" sz="1150" baseline="-4000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l,t</a:t>
            </a:r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c</a:t>
            </a:r>
            <a:pPr indent="0" marL="0">
              <a:lnSpc>
                <a:spcPct val="132000"/>
              </a:lnSpc>
              <a:buNone/>
            </a:pPr>
            <a:r>
              <a:rPr lang="en-US" sz="1150" baseline="-4000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</a:t>
            </a:r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REG</a:t>
            </a:r>
            <a:pPr indent="0" marL="0">
              <a:lnSpc>
                <a:spcPct val="132000"/>
              </a:lnSpc>
              <a:buNone/>
            </a:pPr>
            <a:r>
              <a:rPr lang="en-US" sz="1150" baseline="-4000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sjlt</a:t>
            </a:r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≤ Σ</a:t>
            </a:r>
            <a:pPr indent="0" marL="0">
              <a:lnSpc>
                <a:spcPct val="132000"/>
              </a:lnSpc>
              <a:buNone/>
            </a:pPr>
            <a:r>
              <a:rPr lang="en-US" sz="1150" baseline="-4000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</a:t>
            </a:r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Y</a:t>
            </a:r>
            <a:pPr indent="0" marL="0">
              <a:lnSpc>
                <a:spcPct val="132000"/>
              </a:lnSpc>
              <a:buNone/>
            </a:pPr>
            <a:r>
              <a:rPr lang="en-US" sz="1150" baseline="-4000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hj</a:t>
            </a:r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⇒　Σ</a:t>
            </a:r>
            <a:pPr indent="0" marL="0">
              <a:lnSpc>
                <a:spcPct val="132000"/>
              </a:lnSpc>
              <a:buNone/>
            </a:pPr>
            <a:r>
              <a:rPr lang="en-US" sz="1150" baseline="-4000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</a:t>
            </a:r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Y</a:t>
            </a:r>
            <a:pPr indent="0" marL="0">
              <a:lnSpc>
                <a:spcPct val="132000"/>
              </a:lnSpc>
              <a:buNone/>
            </a:pPr>
            <a:r>
              <a:rPr lang="en-US" sz="1150" baseline="-4000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hj</a:t>
            </a:r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≥ 1。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3749040"/>
            <a:ext cx="8138160" cy="566928"/>
          </a:xfrm>
          <a:prstGeom prst="rect">
            <a:avLst/>
          </a:prstGeom>
          <a:solidFill>
            <a:srgbClr val="F2F4F4"/>
          </a:solidFill>
          <a:ln w="12700">
            <a:solidFill>
              <a:srgbClr val="F2F4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3749040"/>
            <a:ext cx="7626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B6E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意義　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C222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單獨看很弱，但與 VI-7 的 Σ Y、Σ V 下界疊加後，會限制 Σ</a:t>
            </a:r>
            <a:pPr indent="0" marL="0">
              <a:lnSpc>
                <a:spcPct val="120000"/>
              </a:lnSpc>
              <a:buNone/>
            </a:pPr>
            <a:r>
              <a:rPr lang="en-US" sz="1150" baseline="-40000" dirty="0">
                <a:solidFill>
                  <a:srgbClr val="1C222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C222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X</a:t>
            </a:r>
            <a:pPr indent="0" marL="0">
              <a:lnSpc>
                <a:spcPct val="120000"/>
              </a:lnSpc>
              <a:buNone/>
            </a:pPr>
            <a:r>
              <a:rPr lang="en-US" sz="1150" baseline="-40000" dirty="0">
                <a:solidFill>
                  <a:srgbClr val="1C222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C222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的分數解形狀。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183880" y="473659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B6E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VI-3</a:t>
            </a:r>
            <a:pPr indent="0" marL="0">
              <a:buNone/>
            </a:pPr>
            <a:r>
              <a:rPr lang="en-US" sz="105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·　"phys"　已寫，預設關</a:t>
            </a:r>
            <a:pPr indent="0" marL="0">
              <a:buNone/>
            </a:pPr>
            <a:r>
              <a:rPr lang="en-US" sz="1000" b="1" dirty="0">
                <a:solidFill>
                  <a:srgbClr val="1C5F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·　[RELAX]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22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實體容量權衡的閉式切線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6E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對每個 N₀ ∈ {0,1,…,|J|}　　（N = Σ</a:t>
            </a:r>
            <a:pPr indent="0" marL="0">
              <a:buNone/>
            </a:pPr>
            <a:r>
              <a:rPr lang="en-US" sz="1050" b="1" baseline="-40000" dirty="0">
                <a:solidFill>
                  <a:srgbClr val="0B6E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</a:t>
            </a:r>
            <a:pPr indent="0" marL="0">
              <a:buNone/>
            </a:pPr>
            <a:r>
              <a:rPr lang="en-US" sz="1050" b="1" dirty="0">
                <a:solidFill>
                  <a:srgbClr val="0B6E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X</a:t>
            </a:r>
            <a:pPr indent="0" marL="0">
              <a:buNone/>
            </a:pPr>
            <a:r>
              <a:rPr lang="en-US" sz="1050" b="1" baseline="-40000" dirty="0">
                <a:solidFill>
                  <a:srgbClr val="0B6E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</a:t>
            </a:r>
            <a:pPr indent="0" marL="0">
              <a:buNone/>
            </a:pPr>
            <a:r>
              <a:rPr lang="en-US" sz="1050" b="1" dirty="0">
                <a:solidFill>
                  <a:srgbClr val="0B6E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）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8138160" cy="896112"/>
          </a:xfrm>
          <a:prstGeom prst="rect">
            <a:avLst/>
          </a:prstGeom>
          <a:solidFill>
            <a:srgbClr val="E7F1EF"/>
          </a:solidFill>
          <a:ln w="12700">
            <a:solidFill>
              <a:srgbClr val="E7F1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344168"/>
            <a:ext cx="76260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(N₀) = { t ∈ T :　Ď</a:t>
            </a:r>
            <a:pPr indent="0" marL="0">
              <a:lnSpc>
                <a:spcPct val="150000"/>
              </a:lnSpc>
              <a:buNone/>
            </a:pPr>
            <a:r>
              <a:rPr lang="en-US" sz="1200" baseline="3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lt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&gt; P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·⌈t/τ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⌉·N₀ }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θ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　≥　Σ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π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Σ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t∈Tl(N₀)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Ď</a:t>
            </a:r>
            <a:pPr indent="0" marL="0">
              <a:lnSpc>
                <a:spcPct val="150000"/>
              </a:lnSpc>
              <a:buNone/>
            </a:pPr>
            <a:r>
              <a:rPr lang="en-US" sz="1200" baseline="3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lt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　−　[ Σ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π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Σ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t∈Tl(N₀)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⌈t/τ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⌉ ] · Σ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X</a:t>
            </a:r>
            <a:pPr indent="0" marL="0">
              <a:lnSpc>
                <a:spcPct val="150000"/>
              </a:lnSpc>
              <a:buNone/>
            </a:pPr>
            <a:r>
              <a:rPr lang="en-US" sz="120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2212848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推導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2414016"/>
            <a:ext cx="8138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(1)　Flow_TRT + CCP_PhysicalCap 對 j 加總　⇒　Σ</a:t>
            </a:r>
            <a:pPr indent="0" marL="0">
              <a:lnSpc>
                <a:spcPct val="145000"/>
              </a:lnSpc>
              <a:buNone/>
            </a:pPr>
            <a:r>
              <a:rPr lang="en-US" sz="1150" baseline="-4000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r=t−τl+1</a:t>
            </a:r>
            <a:pPr indent="0" marL="0">
              <a:lnSpc>
                <a:spcPct val="145000"/>
              </a:lnSpc>
              <a:buNone/>
            </a:pPr>
            <a:r>
              <a:rPr lang="en-US" sz="1150" baseline="3000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F</a:t>
            </a:r>
            <a:pPr indent="0" marL="0">
              <a:lnSpc>
                <a:spcPct val="145000"/>
              </a:lnSpc>
              <a:buNone/>
            </a:pPr>
            <a:r>
              <a:rPr lang="en-US" sz="1150" baseline="3000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indent="0" marL="0">
              <a:lnSpc>
                <a:spcPct val="145000"/>
              </a:lnSpc>
              <a:buNone/>
            </a:pPr>
            <a:r>
              <a:rPr lang="en-US" sz="1150" baseline="-4000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lr</a:t>
            </a:r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≤ P</a:t>
            </a:r>
            <a:pPr indent="0" marL="0">
              <a:lnSpc>
                <a:spcPct val="145000"/>
              </a:lnSpc>
              <a:buNone/>
            </a:pPr>
            <a:r>
              <a:rPr lang="en-US" sz="1150" baseline="-4000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</a:t>
            </a:r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·N</a:t>
            </a:r>
            <a:endParaRPr lang="en-US" sz="11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(2)　把 {1,…,t} 切成 ⌈t/τ</a:t>
            </a:r>
            <a:pPr indent="0" marL="0">
              <a:lnSpc>
                <a:spcPct val="145000"/>
              </a:lnSpc>
              <a:buNone/>
            </a:pPr>
            <a:r>
              <a:rPr lang="en-US" sz="1150" baseline="-4000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</a:t>
            </a:r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⌉ 段（每段長 ≤ τ</a:t>
            </a:r>
            <a:pPr indent="0" marL="0">
              <a:lnSpc>
                <a:spcPct val="145000"/>
              </a:lnSpc>
              <a:buNone/>
            </a:pPr>
            <a:r>
              <a:rPr lang="en-US" sz="1150" baseline="-4000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</a:t>
            </a:r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）逐段套用 (1)　⇒　Ǎ</a:t>
            </a:r>
            <a:pPr indent="0" marL="0">
              <a:lnSpc>
                <a:spcPct val="145000"/>
              </a:lnSpc>
              <a:buNone/>
            </a:pPr>
            <a:r>
              <a:rPr lang="en-US" sz="1150" baseline="3000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indent="0" marL="0">
              <a:lnSpc>
                <a:spcPct val="145000"/>
              </a:lnSpc>
              <a:buNone/>
            </a:pPr>
            <a:r>
              <a:rPr lang="en-US" sz="1150" baseline="-4000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lt</a:t>
            </a:r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≤ P</a:t>
            </a:r>
            <a:pPr indent="0" marL="0">
              <a:lnSpc>
                <a:spcPct val="145000"/>
              </a:lnSpc>
              <a:buNone/>
            </a:pPr>
            <a:r>
              <a:rPr lang="en-US" sz="1150" baseline="-4000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</a:t>
            </a:r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·⌈t/τ</a:t>
            </a:r>
            <a:pPr indent="0" marL="0">
              <a:lnSpc>
                <a:spcPct val="145000"/>
              </a:lnSpc>
              <a:buNone/>
            </a:pPr>
            <a:r>
              <a:rPr lang="en-US" sz="1150" baseline="-4000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</a:t>
            </a:r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⌉·N</a:t>
            </a:r>
            <a:endParaRPr lang="en-US" sz="11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(3)　Flow_RM 對 i 加總，RM ≥ 0　⇒　Σ</a:t>
            </a:r>
            <a:pPr indent="0" marL="0">
              <a:lnSpc>
                <a:spcPct val="145000"/>
              </a:lnSpc>
              <a:buNone/>
            </a:pPr>
            <a:r>
              <a:rPr lang="en-US" sz="1150" baseline="-4000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RM</a:t>
            </a:r>
            <a:pPr indent="0" marL="0">
              <a:lnSpc>
                <a:spcPct val="145000"/>
              </a:lnSpc>
              <a:buNone/>
            </a:pPr>
            <a:r>
              <a:rPr lang="en-US" sz="1150" baseline="-4000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silt</a:t>
            </a:r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Ď</a:t>
            </a:r>
            <a:pPr indent="0" marL="0">
              <a:lnSpc>
                <a:spcPct val="145000"/>
              </a:lnSpc>
              <a:buNone/>
            </a:pPr>
            <a:r>
              <a:rPr lang="en-US" sz="1150" baseline="3000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indent="0" marL="0">
              <a:lnSpc>
                <a:spcPct val="145000"/>
              </a:lnSpc>
              <a:buNone/>
            </a:pPr>
            <a:r>
              <a:rPr lang="en-US" sz="1150" baseline="-4000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lt</a:t>
            </a:r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− Ǎ</a:t>
            </a:r>
            <a:pPr indent="0" marL="0">
              <a:lnSpc>
                <a:spcPct val="145000"/>
              </a:lnSpc>
              <a:buNone/>
            </a:pPr>
            <a:r>
              <a:rPr lang="en-US" sz="1150" baseline="3000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indent="0" marL="0">
              <a:lnSpc>
                <a:spcPct val="145000"/>
              </a:lnSpc>
              <a:buNone/>
            </a:pPr>
            <a:r>
              <a:rPr lang="en-US" sz="1150" baseline="-4000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lt</a:t>
            </a:r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≥ 0</a:t>
            </a:r>
            <a:endParaRPr lang="en-US" sz="11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(4)　丟掉非負的運送成本與 WAT 罰金　⇒　Q</a:t>
            </a:r>
            <a:pPr indent="0" marL="0">
              <a:lnSpc>
                <a:spcPct val="145000"/>
              </a:lnSpc>
              <a:buNone/>
            </a:pPr>
            <a:r>
              <a:rPr lang="en-US" sz="1150" baseline="-4000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≥ Σ</a:t>
            </a:r>
            <a:pPr indent="0" marL="0">
              <a:lnSpc>
                <a:spcPct val="145000"/>
              </a:lnSpc>
              <a:buNone/>
            </a:pPr>
            <a:r>
              <a:rPr lang="en-US" sz="1150" baseline="-4000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l,t</a:t>
            </a:r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π</a:t>
            </a:r>
            <a:pPr indent="0" marL="0">
              <a:lnSpc>
                <a:spcPct val="145000"/>
              </a:lnSpc>
              <a:buNone/>
            </a:pPr>
            <a:r>
              <a:rPr lang="en-US" sz="1150" baseline="-4000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</a:t>
            </a:r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max{0, Ď</a:t>
            </a:r>
            <a:pPr indent="0" marL="0">
              <a:lnSpc>
                <a:spcPct val="145000"/>
              </a:lnSpc>
              <a:buNone/>
            </a:pPr>
            <a:r>
              <a:rPr lang="en-US" sz="1150" baseline="3000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indent="0" marL="0">
              <a:lnSpc>
                <a:spcPct val="145000"/>
              </a:lnSpc>
              <a:buNone/>
            </a:pPr>
            <a:r>
              <a:rPr lang="en-US" sz="1150" baseline="-4000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lt</a:t>
            </a:r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− P</a:t>
            </a:r>
            <a:pPr indent="0" marL="0">
              <a:lnSpc>
                <a:spcPct val="145000"/>
              </a:lnSpc>
              <a:buNone/>
            </a:pPr>
            <a:r>
              <a:rPr lang="en-US" sz="1150" baseline="-4000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</a:t>
            </a:r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⌈t/τ</a:t>
            </a:r>
            <a:pPr indent="0" marL="0">
              <a:lnSpc>
                <a:spcPct val="145000"/>
              </a:lnSpc>
              <a:buNone/>
            </a:pPr>
            <a:r>
              <a:rPr lang="en-US" sz="1150" baseline="-4000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</a:t>
            </a:r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⌉N} =: G</a:t>
            </a:r>
            <a:pPr indent="0" marL="0">
              <a:lnSpc>
                <a:spcPct val="145000"/>
              </a:lnSpc>
              <a:buNone/>
            </a:pPr>
            <a:r>
              <a:rPr lang="en-US" sz="1150" baseline="-4000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(N)</a:t>
            </a:r>
            <a:endParaRPr lang="en-US" sz="11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(5)　G</a:t>
            </a:r>
            <a:pPr indent="0" marL="0">
              <a:lnSpc>
                <a:spcPct val="145000"/>
              </a:lnSpc>
              <a:buNone/>
            </a:pPr>
            <a:r>
              <a:rPr lang="en-US" sz="1150" baseline="-4000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1C2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對 N 凸、遞減、分段線性；上式即其在 N₀ 的次梯度切線 ⇒ 對所有 N 有效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4078224"/>
            <a:ext cx="8138160" cy="566928"/>
          </a:xfrm>
          <a:prstGeom prst="rect">
            <a:avLst/>
          </a:prstGeom>
          <a:solidFill>
            <a:srgbClr val="F2F4F4"/>
          </a:solidFill>
          <a:ln w="12700">
            <a:solidFill>
              <a:srgbClr val="F2F4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4078224"/>
            <a:ext cx="7626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B6E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意義　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C222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台北 small：G(2)=83.4M、G(4)=19.2M、G(6)=0，與固定成本疊加後最低點落在 6 座。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183880" y="473659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B6E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VI-8′</a:t>
            </a:r>
            <a:pPr indent="0" marL="0">
              <a:buNone/>
            </a:pPr>
            <a:r>
              <a:rPr lang="en-US" sz="105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·　"symbreak"　已寫，預設關</a:t>
            </a:r>
            <a:pPr indent="0" marL="0">
              <a:buNone/>
            </a:pPr>
            <a:r>
              <a:rPr lang="en-US" sz="1000" b="1" dirty="0">
                <a:solidFill>
                  <a:srgbClr val="8A53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·　[OPT]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22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醫院層級的破對稱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42416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生效條件（程式會先檢查 hospital_supply_is_symmetric）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243584"/>
            <a:ext cx="8138160" cy="566928"/>
          </a:xfrm>
          <a:prstGeom prst="rect">
            <a:avLst/>
          </a:prstGeom>
          <a:solidFill>
            <a:srgbClr val="F2F4F4"/>
          </a:solidFill>
          <a:ln w="12700">
            <a:solidFill>
              <a:srgbClr val="F2F4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380744"/>
            <a:ext cx="7626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</a:t>
            </a:r>
            <a:pPr indent="0" marL="0">
              <a:lnSpc>
                <a:spcPct val="150000"/>
              </a:lnSpc>
              <a:buNone/>
            </a:pPr>
            <a:r>
              <a:rPr lang="en-US" sz="1250" baseline="-400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hj</a:t>
            </a:r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≡ g　（＝1800，與距離無關）　　且　　Ȳ</a:t>
            </a:r>
            <a:pPr indent="0" marL="0">
              <a:lnSpc>
                <a:spcPct val="150000"/>
              </a:lnSpc>
              <a:buNone/>
            </a:pPr>
            <a:r>
              <a:rPr lang="en-US" sz="1250" baseline="-4000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3B4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≡ Ȳ　　∀h,j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1920240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6E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加入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2121408"/>
            <a:ext cx="8138160" cy="621792"/>
          </a:xfrm>
          <a:prstGeom prst="rect">
            <a:avLst/>
          </a:prstGeom>
          <a:solidFill>
            <a:srgbClr val="E7F1EF"/>
          </a:solidFill>
          <a:ln w="12700">
            <a:solidFill>
              <a:srgbClr val="E7F1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2258568"/>
            <a:ext cx="76260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Σ</a:t>
            </a:r>
            <a:pPr indent="0" marL="0">
              <a:lnSpc>
                <a:spcPct val="150000"/>
              </a:lnSpc>
              <a:buNone/>
            </a:pPr>
            <a:r>
              <a:rPr lang="en-US" sz="125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j∈J</a:t>
            </a:r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Y</a:t>
            </a:r>
            <a:pPr indent="0" marL="0">
              <a:lnSpc>
                <a:spcPct val="150000"/>
              </a:lnSpc>
              <a:buNone/>
            </a:pPr>
            <a:r>
              <a:rPr lang="en-US" sz="125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h(k) j</a:t>
            </a:r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　≥　Σ</a:t>
            </a:r>
            <a:pPr indent="0" marL="0">
              <a:lnSpc>
                <a:spcPct val="150000"/>
              </a:lnSpc>
              <a:buNone/>
            </a:pPr>
            <a:r>
              <a:rPr lang="en-US" sz="125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j∈J</a:t>
            </a:r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Y</a:t>
            </a:r>
            <a:pPr indent="0" marL="0">
              <a:lnSpc>
                <a:spcPct val="150000"/>
              </a:lnSpc>
              <a:buNone/>
            </a:pPr>
            <a:r>
              <a:rPr lang="en-US" sz="1250" baseline="-4000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h(k+1) j</a:t>
            </a:r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0644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　　　k = 1,…,|H|−1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2798064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為什麼有效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2999232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</a:t>
            </a:r>
            <a:pPr indent="0" marL="0">
              <a:lnSpc>
                <a:spcPct val="132000"/>
              </a:lnSpc>
              <a:buNone/>
            </a:pPr>
            <a:r>
              <a:rPr lang="en-US" sz="1150" baseline="-4000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hj</a:t>
            </a:r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在模型中只以 Σ</a:t>
            </a:r>
            <a:pPr indent="0" marL="0">
              <a:lnSpc>
                <a:spcPct val="132000"/>
              </a:lnSpc>
              <a:buNone/>
            </a:pPr>
            <a:r>
              <a:rPr lang="en-US" sz="1150" baseline="-4000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</a:t>
            </a:r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Y</a:t>
            </a:r>
            <a:pPr indent="0" marL="0">
              <a:lnSpc>
                <a:spcPct val="132000"/>
              </a:lnSpc>
              <a:buNone/>
            </a:pPr>
            <a:r>
              <a:rPr lang="en-US" sz="1150" baseline="-4000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hj</a:t>
            </a:r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（Logic_Y、SupplyCap）與 Σ</a:t>
            </a:r>
            <a:pPr indent="0" marL="0">
              <a:lnSpc>
                <a:spcPct val="132000"/>
              </a:lnSpc>
              <a:buNone/>
            </a:pPr>
            <a:r>
              <a:rPr lang="en-US" sz="1150" baseline="-4000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h,j</a:t>
            </a:r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Y</a:t>
            </a:r>
            <a:pPr indent="0" marL="0">
              <a:lnSpc>
                <a:spcPct val="132000"/>
              </a:lnSpc>
              <a:buNone/>
            </a:pPr>
            <a:r>
              <a:rPr lang="en-US" sz="1150" baseline="-4000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hj</a:t>
            </a:r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（目標式）出現，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唯一牽涉個別 h 的是列上限 Σ</a:t>
            </a:r>
            <a:pPr indent="0" marL="0">
              <a:lnSpc>
                <a:spcPct val="132000"/>
              </a:lnSpc>
              <a:buNone/>
            </a:pPr>
            <a:r>
              <a:rPr lang="en-US" sz="1150" baseline="-4000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</a:t>
            </a:r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Y</a:t>
            </a:r>
            <a:pPr indent="0" marL="0">
              <a:lnSpc>
                <a:spcPct val="132000"/>
              </a:lnSpc>
              <a:buNone/>
            </a:pPr>
            <a:r>
              <a:rPr lang="en-US" sz="1150" baseline="-4000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hj</a:t>
            </a:r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≤ Ȳ</a:t>
            </a:r>
            <a:pPr indent="0" marL="0">
              <a:lnSpc>
                <a:spcPct val="132000"/>
              </a:lnSpc>
              <a:buNone/>
            </a:pPr>
            <a:r>
              <a:rPr lang="en-US" sz="1150" baseline="-4000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</a:t>
            </a:r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。在 g 與 Ȳ</a:t>
            </a:r>
            <a:pPr indent="0" marL="0">
              <a:lnSpc>
                <a:spcPct val="132000"/>
              </a:lnSpc>
              <a:buNone/>
            </a:pPr>
            <a:r>
              <a:rPr lang="en-US" sz="1150" baseline="-4000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</a:t>
            </a:r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同值下，任意置換醫院索引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都得到同值解，故必存在一個最佳解的醫院撥出量是遞減排序的。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4078224"/>
            <a:ext cx="8138160" cy="566928"/>
          </a:xfrm>
          <a:prstGeom prst="rect">
            <a:avLst/>
          </a:prstGeom>
          <a:solidFill>
            <a:srgbClr val="F2F4F4"/>
          </a:solidFill>
          <a:ln w="12700">
            <a:solidFill>
              <a:srgbClr val="F2F4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" y="4078224"/>
            <a:ext cx="7626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B6E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意義　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C222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尚未實作的 VI-8 是更強的版本：令 W</a:t>
            </a:r>
            <a:pPr indent="0" marL="0">
              <a:lnSpc>
                <a:spcPct val="120000"/>
              </a:lnSpc>
              <a:buNone/>
            </a:pPr>
            <a:r>
              <a:rPr lang="en-US" sz="1150" baseline="-40000" dirty="0">
                <a:solidFill>
                  <a:srgbClr val="1C222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C222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Σ</a:t>
            </a:r>
            <a:pPr indent="0" marL="0">
              <a:lnSpc>
                <a:spcPct val="120000"/>
              </a:lnSpc>
              <a:buNone/>
            </a:pPr>
            <a:r>
              <a:rPr lang="en-US" sz="1150" baseline="-40000" dirty="0">
                <a:solidFill>
                  <a:srgbClr val="1C222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C222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Y</a:t>
            </a:r>
            <a:pPr indent="0" marL="0">
              <a:lnSpc>
                <a:spcPct val="120000"/>
              </a:lnSpc>
              <a:buNone/>
            </a:pPr>
            <a:r>
              <a:rPr lang="en-US" sz="1150" baseline="-40000" dirty="0">
                <a:solidFill>
                  <a:srgbClr val="1C222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hj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C222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，整數變數 360 → 20（精確重構）。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183880" y="473659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C22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正確性怎麼確認的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109728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3CCD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有效不等式寫錯不會報錯，只會安靜地回傳偏低的最佳值。三關全過才算數。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157276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FC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關卡一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325880" y="157276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Extensive form 最佳目標值，VI 全關 vs 全開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55080" y="15727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FC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539,684.278403　逐位相同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901952"/>
            <a:ext cx="8138160" cy="0"/>
          </a:xfrm>
          <a:prstGeom prst="line">
            <a:avLst/>
          </a:prstGeom>
          <a:noFill/>
          <a:ln w="12700">
            <a:solidFill>
              <a:srgbClr val="343E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08483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FC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關卡二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325880" y="208483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40 個隨機一階解（含全零解），比對真實 Q(x) 與 VI-1/2/3 的右手邊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55080" y="20848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FC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違反 0 次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2414016"/>
            <a:ext cx="8138160" cy="0"/>
          </a:xfrm>
          <a:prstGeom prst="line">
            <a:avLst/>
          </a:prstGeom>
          <a:noFill/>
          <a:ln w="12700">
            <a:solidFill>
              <a:srgbClr val="343E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59689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FC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關卡三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325880" y="259689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最佳解代回 staffub / openuse / symbreak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55080" y="259689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FC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違反 0 項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2926080"/>
            <a:ext cx="8138160" cy="0"/>
          </a:xfrm>
          <a:prstGeom prst="line">
            <a:avLst/>
          </a:prstGeom>
          <a:noFill/>
          <a:ln w="12700">
            <a:solidFill>
              <a:srgbClr val="343E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25526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3CCD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台北 small 實例（|I|=70, |J|=20, |H|=18, S=5）的 master root LP 下界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35661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794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pPr indent="0" marL="0">
              <a:buNone/>
            </a:pPr>
            <a:r>
              <a:rPr lang="en-US" sz="2000" dirty="0">
                <a:solidFill>
                  <a:srgbClr val="5F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→　</a:t>
            </a:r>
            <a:pPr indent="0" marL="0">
              <a:buNone/>
            </a:pPr>
            <a:r>
              <a:rPr lang="en-US" sz="3000" b="1" dirty="0">
                <a:solidFill>
                  <a:srgbClr val="5F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17,480,001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800600" y="3218688"/>
            <a:ext cx="38404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3CCD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　17,480,001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3CCD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MCVaR　17,750,062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3CCD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DRO-box　17,753,899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3CCD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改用 VI 後三者才分開；Jensen LBF 下完全相同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453542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8B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 core/valid_inequalities.py　·　tests/validate_valid_inequalities.py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有效不等式：寫進程式的數學式</dc:title>
  <dc:subject>PptxGenJS Presentation</dc:subject>
  <dc:creator>Amy</dc:creator>
  <cp:lastModifiedBy>Amy</cp:lastModifiedBy>
  <cp:revision>1</cp:revision>
  <dcterms:created xsi:type="dcterms:W3CDTF">2026-08-31T09:26:47Z</dcterms:created>
  <dcterms:modified xsi:type="dcterms:W3CDTF">2026-08-31T09:26:47Z</dcterms:modified>
</cp:coreProperties>
</file>